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</p:sldMasterIdLst>
  <p:notesMasterIdLst>
    <p:notesMasterId r:id="rId10"/>
  </p:notesMasterIdLst>
  <p:sldIdLst>
    <p:sldId id="2642" r:id="rId3"/>
    <p:sldId id="3622" r:id="rId4"/>
    <p:sldId id="3628" r:id="rId5"/>
    <p:sldId id="3601" r:id="rId6"/>
    <p:sldId id="3631" r:id="rId26"/>
    <p:sldId id="3632" r:id="rId27"/>
    <p:sldId id="3629" r:id="rId7"/>
    <p:sldId id="3630" r:id="rId8"/>
    <p:sldId id="2206" r:id="rId9"/>
  </p:sldIdLst>
  <p:sldSz cx="9906000" cy="6858000" type="A4"/>
  <p:notesSz cx="6797675" cy="9926638"/>
  <p:embeddedFontLst>
    <p:embeddedFont>
      <p:font typeface="대명체 굵게" panose="020B0600000101010101" pitchFamily="50" charset="-127"/>
      <p:bold r:id="rId11"/>
    </p:embeddedFont>
    <p:embeddedFont>
      <p:font typeface="대명체 보통" panose="020B0600000101010101" pitchFamily="50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pos="5932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pos="1805" userDrawn="1">
          <p15:clr>
            <a:srgbClr val="A4A3A4"/>
          </p15:clr>
        </p15:guide>
        <p15:guide id="5" pos="897" userDrawn="1">
          <p15:clr>
            <a:srgbClr val="A4A3A4"/>
          </p15:clr>
        </p15:guide>
        <p15:guide id="6" pos="3483" userDrawn="1">
          <p15:clr>
            <a:srgbClr val="A4A3A4"/>
          </p15:clr>
        </p15:guide>
        <p15:guide id="7" pos="104" userDrawn="1">
          <p15:clr>
            <a:srgbClr val="A4A3A4"/>
          </p15:clr>
        </p15:guide>
        <p15:guide id="8" orient="horz" pos="255" userDrawn="1">
          <p15:clr>
            <a:srgbClr val="A4A3A4"/>
          </p15:clr>
        </p15:guide>
        <p15:guide id="9" pos="262" userDrawn="1">
          <p15:clr>
            <a:srgbClr val="A4A3A4"/>
          </p15:clr>
        </p15:guide>
        <p15:guide id="10" orient="horz" pos="2183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MAdmin" initials="V" lastIdx="1" clrIdx="0">
    <p:extLst>
      <p:ext uri="{19B8F6BF-5375-455C-9EA6-DF929625EA0E}">
        <p15:presenceInfo xmlns:p15="http://schemas.microsoft.com/office/powerpoint/2012/main" userId="VM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DD"/>
    <a:srgbClr val="D9D9D9"/>
    <a:srgbClr val="ACACAC"/>
    <a:srgbClr val="595959"/>
    <a:srgbClr val="EAEAEA"/>
    <a:srgbClr val="F8F8F8"/>
    <a:srgbClr val="F2F2F2"/>
    <a:srgbClr val="DEEBF7"/>
    <a:srgbClr val="7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96" autoAdjust="0"/>
  </p:normalViewPr>
  <p:slideViewPr>
    <p:cSldViewPr snapToGrid="0" showGuides="1">
      <p:cViewPr varScale="1">
        <p:scale>
          <a:sx n="110" d="100"/>
          <a:sy n="110" d="100"/>
        </p:scale>
        <p:origin x="1506" y="96"/>
      </p:cViewPr>
      <p:guideLst>
        <p:guide orient="horz" pos="3226"/>
        <p:guide pos="5932"/>
        <p:guide orient="horz" pos="414"/>
        <p:guide pos="1805"/>
        <p:guide pos="897"/>
        <p:guide pos="3483"/>
        <p:guide pos="104"/>
        <p:guide orient="horz" pos="255"/>
        <p:guide pos="262"/>
        <p:guide orient="horz" pos="2183"/>
        <p:guide orient="horz" pos="4156"/>
      </p:guideLst>
    </p:cSldViewPr>
  </p:slideViewPr>
  <p:outlineViewPr>
    <p:cViewPr>
      <p:scale>
        <a:sx n="33" d="100"/>
        <a:sy n="33" d="100"/>
      </p:scale>
      <p:origin x="0" y="-8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978" y="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presProps" Target="presProps.xml"/><Relationship Id="rId26" Type="http://schemas.openxmlformats.org/officeDocument/2006/relationships/slide" Target="slides/slide8.xml"/><Relationship Id="rId27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41C05DBB-1924-4F20-A6F0-970E61789A2E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D9BDF786-FB5E-45FA-8035-F5D63FAB5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35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DF786-FB5E-45FA-8035-F5D63FAB5D6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02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914400" rtl="0" eaLnBrk="1" latinLnBrk="1" hangingPunct="1">
              <a:lnSpc>
                <a:spcPct val="140000"/>
              </a:lnSpc>
              <a:buFont typeface="+mj-lt"/>
              <a:buNone/>
            </a:pPr>
            <a:endParaRPr lang="en-US" altLang="ko-KR" sz="1200" b="0" i="0" kern="1200" baseline="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DF786-FB5E-45FA-8035-F5D63FAB5D6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06395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2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71" y="197709"/>
            <a:ext cx="2279448" cy="6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76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11-01-01.jpg"/>
          <p:cNvPicPr>
            <a:picLocks noChangeAspect="1"/>
          </p:cNvPicPr>
          <p:nvPr userDrawn="1"/>
        </p:nvPicPr>
        <p:blipFill rotWithShape="1">
          <a:blip r:embed="rId2" cstate="print"/>
          <a:srcRect l="27464" t="57352" r="28191" b="38447"/>
          <a:stretch/>
        </p:blipFill>
        <p:spPr>
          <a:xfrm>
            <a:off x="0" y="0"/>
            <a:ext cx="9906000" cy="466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871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715963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420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715963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985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328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1120588" y="483954"/>
            <a:ext cx="8525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/>
          <p:cNvSpPr txBox="1">
            <a:spLocks/>
          </p:cNvSpPr>
          <p:nvPr userDrawn="1"/>
        </p:nvSpPr>
        <p:spPr>
          <a:xfrm>
            <a:off x="1130495" y="205045"/>
            <a:ext cx="2002858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SONO Hotels &amp; Resorts 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95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-1" y="-3"/>
            <a:ext cx="9906001" cy="54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95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790" t="38253" r="25877" b="37791"/>
          <a:stretch/>
        </p:blipFill>
        <p:spPr>
          <a:xfrm>
            <a:off x="9011182" y="161183"/>
            <a:ext cx="837139" cy="287828"/>
          </a:xfrm>
          <a:prstGeom prst="rect">
            <a:avLst/>
          </a:prstGeom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651305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8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8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38717" y="6651305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9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49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655817" y="3568335"/>
            <a:ext cx="2594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End of Document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9" t="39228" r="28720" b="40177"/>
          <a:stretch/>
        </p:blipFill>
        <p:spPr>
          <a:xfrm>
            <a:off x="4313125" y="3066215"/>
            <a:ext cx="1176789" cy="39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04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-523701" y="0"/>
            <a:ext cx="423948" cy="440574"/>
          </a:xfrm>
          <a:prstGeom prst="roundRect">
            <a:avLst/>
          </a:prstGeom>
          <a:solidFill>
            <a:srgbClr val="68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-523701" y="584662"/>
            <a:ext cx="423948" cy="440574"/>
          </a:xfrm>
          <a:prstGeom prst="roundRect">
            <a:avLst/>
          </a:prstGeom>
          <a:solidFill>
            <a:srgbClr val="6860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-523701" y="1180889"/>
            <a:ext cx="423948" cy="440574"/>
          </a:xfrm>
          <a:prstGeom prst="roundRect">
            <a:avLst/>
          </a:prstGeom>
          <a:solidFill>
            <a:srgbClr val="68606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 userDrawn="1"/>
        </p:nvSpPr>
        <p:spPr>
          <a:xfrm>
            <a:off x="-523701" y="1777116"/>
            <a:ext cx="423948" cy="440574"/>
          </a:xfrm>
          <a:prstGeom prst="roundRect">
            <a:avLst/>
          </a:prstGeom>
          <a:solidFill>
            <a:srgbClr val="68606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253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4"/>
          <a:stretch/>
        </p:blipFill>
        <p:spPr>
          <a:xfrm>
            <a:off x="7442643" y="-9054"/>
            <a:ext cx="1843405" cy="182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36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271" y="197709"/>
            <a:ext cx="2279448" cy="6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0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85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11-01-01.jpg"/>
          <p:cNvPicPr>
            <a:picLocks noChangeAspect="1"/>
          </p:cNvPicPr>
          <p:nvPr userDrawn="1"/>
        </p:nvPicPr>
        <p:blipFill rotWithShape="1">
          <a:blip r:embed="rId2" cstate="print"/>
          <a:srcRect l="27464" t="57352" r="28191" b="38447"/>
          <a:stretch/>
        </p:blipFill>
        <p:spPr>
          <a:xfrm>
            <a:off x="0" y="0"/>
            <a:ext cx="9906000" cy="466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847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6" t="16054" r="10117" b="21514"/>
          <a:stretch/>
        </p:blipFill>
        <p:spPr>
          <a:xfrm>
            <a:off x="8361405" y="151087"/>
            <a:ext cx="1367481" cy="2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74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-10121" y="464126"/>
            <a:ext cx="993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906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426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88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 userDrawn="1"/>
        </p:nvCxnSpPr>
        <p:spPr>
          <a:xfrm>
            <a:off x="1120588" y="483954"/>
            <a:ext cx="8525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/>
          <p:cNvSpPr txBox="1">
            <a:spLocks/>
          </p:cNvSpPr>
          <p:nvPr userDrawn="1"/>
        </p:nvSpPr>
        <p:spPr>
          <a:xfrm>
            <a:off x="1130495" y="205045"/>
            <a:ext cx="2002858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SONO Hotels &amp; Resorts 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5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-1" y="-3"/>
            <a:ext cx="9906001" cy="54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95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790" t="38253" r="25877" b="37791"/>
          <a:stretch/>
        </p:blipFill>
        <p:spPr>
          <a:xfrm>
            <a:off x="9011182" y="161183"/>
            <a:ext cx="837139" cy="287828"/>
          </a:xfrm>
          <a:prstGeom prst="rect">
            <a:avLst/>
          </a:prstGeom>
        </p:spPr>
      </p:pic>
      <p:cxnSp>
        <p:nvCxnSpPr>
          <p:cNvPr id="4" name="직선 연결선 3"/>
          <p:cNvCxnSpPr/>
          <p:nvPr userDrawn="1"/>
        </p:nvCxnSpPr>
        <p:spPr>
          <a:xfrm>
            <a:off x="238717" y="6558987"/>
            <a:ext cx="942856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545681" y="6587562"/>
            <a:ext cx="2814637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</a:t>
            </a:r>
            <a:fld id="{139B9628-D260-44E5-8C8F-2D156FF703C3}" type="slidenum">
              <a:rPr lang="en-US" altLang="ko-KR" sz="1000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1000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 xml:space="preserve"> -</a:t>
            </a:r>
            <a:endParaRPr lang="en-US" altLang="ko-KR" sz="8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0058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2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655817" y="3568335"/>
            <a:ext cx="2594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End of Document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9" t="39228" r="28720" b="40177"/>
          <a:stretch/>
        </p:blipFill>
        <p:spPr>
          <a:xfrm>
            <a:off x="4313125" y="3066215"/>
            <a:ext cx="1176789" cy="39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728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-523701" y="0"/>
            <a:ext cx="423948" cy="440574"/>
          </a:xfrm>
          <a:prstGeom prst="roundRect">
            <a:avLst/>
          </a:prstGeom>
          <a:solidFill>
            <a:srgbClr val="68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-523701" y="584662"/>
            <a:ext cx="423948" cy="440574"/>
          </a:xfrm>
          <a:prstGeom prst="roundRect">
            <a:avLst/>
          </a:prstGeom>
          <a:solidFill>
            <a:srgbClr val="6860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-523701" y="1180889"/>
            <a:ext cx="423948" cy="440574"/>
          </a:xfrm>
          <a:prstGeom prst="roundRect">
            <a:avLst/>
          </a:prstGeom>
          <a:solidFill>
            <a:srgbClr val="68606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 userDrawn="1"/>
        </p:nvSpPr>
        <p:spPr>
          <a:xfrm>
            <a:off x="-523701" y="1777116"/>
            <a:ext cx="423948" cy="440574"/>
          </a:xfrm>
          <a:prstGeom prst="roundRect">
            <a:avLst/>
          </a:prstGeom>
          <a:solidFill>
            <a:srgbClr val="68606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8177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20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67" r:id="rId4"/>
    <p:sldLayoutId id="2147483679" r:id="rId5"/>
    <p:sldLayoutId id="2147483680" r:id="rId6"/>
    <p:sldLayoutId id="2147483673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869A1-6AC4-4956-B0AB-2336F28A0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6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24134" y="2373997"/>
            <a:ext cx="7383371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rgbClr val="A7A3A4"/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세일즈마케팅</a:t>
            </a:r>
            <a:endParaRPr lang="en-US" altLang="ko-KR" sz="2000" dirty="0" smtClean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rgbClr val="A7A3A4"/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주간 </a:t>
            </a:r>
            <a:r>
              <a:rPr kumimoji="0" lang="en-US" altLang="ko-KR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ISSUE 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보고 </a:t>
            </a:r>
            <a:r>
              <a:rPr kumimoji="0" lang="en-US" altLang="ko-KR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: 5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월</a:t>
            </a:r>
            <a:r>
              <a:rPr lang="en-US" altLang="ko-KR" sz="32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3</a:t>
            </a:r>
            <a:r>
              <a:rPr lang="ko-KR" altLang="en-US" sz="32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주</a:t>
            </a:r>
            <a:r>
              <a:rPr kumimoji="0" lang="ko-KR" altLang="en-US" sz="3200" i="0" u="none" strike="noStrike" kern="1200" cap="none" spc="0" normalizeH="0" baseline="0" noProof="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</a:rPr>
              <a:t>차</a:t>
            </a:r>
            <a:endParaRPr kumimoji="0" lang="en-US" altLang="ko-KR" sz="3200" i="0" u="none" strike="noStrike" kern="1200" cap="none" spc="0" normalizeH="0" baseline="0" noProof="0" dirty="0" smtClean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24134" y="3707497"/>
            <a:ext cx="6559430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defTabSz="9239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2025. </a:t>
            </a:r>
            <a:r>
              <a:rPr lang="en-US" altLang="ko-KR" sz="16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5</a:t>
            </a:r>
            <a:r>
              <a:rPr lang="en-US" altLang="ko-KR" sz="1600" dirty="0" smtClean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. 11</a:t>
            </a:r>
          </a:p>
        </p:txBody>
      </p:sp>
    </p:spTree>
    <p:extLst>
      <p:ext uri="{BB962C8B-B14F-4D97-AF65-F5344CB8AC3E}">
        <p14:creationId xmlns:p14="http://schemas.microsoft.com/office/powerpoint/2010/main" val="382675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12482"/>
              </p:ext>
            </p:extLst>
          </p:nvPr>
        </p:nvGraphicFramePr>
        <p:xfrm>
          <a:off x="428370" y="4899796"/>
          <a:ext cx="9068448" cy="1440000"/>
        </p:xfrm>
        <a:graphic>
          <a:graphicData uri="http://schemas.openxmlformats.org/drawingml/2006/table">
            <a:tbl>
              <a:tblPr/>
              <a:tblGrid>
                <a:gridCol w="178122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748113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381916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366198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340453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98743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98743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84996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63118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당월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예상실적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(05.01~05.31)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누계 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(01.01~05.31)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합계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61,205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13,043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63,795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14,024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47,703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16,092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872,975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345,252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(527,723)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274,050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71,202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33,580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7,572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36,400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8,687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2,820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26,041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10,359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185,220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146,828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38,392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5,095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22,700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4,925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(515)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18,033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4,667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132,799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106,600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26,199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인바운드</a:t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4,410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376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4,695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27,233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20,622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6,611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93107"/>
              </p:ext>
            </p:extLst>
          </p:nvPr>
        </p:nvGraphicFramePr>
        <p:xfrm>
          <a:off x="428368" y="1033069"/>
          <a:ext cx="9086569" cy="3672000"/>
        </p:xfrm>
        <a:graphic>
          <a:graphicData uri="http://schemas.openxmlformats.org/drawingml/2006/table">
            <a:tbl>
              <a:tblPr/>
              <a:tblGrid>
                <a:gridCol w="174323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76699730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24244929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190198473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67497670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76015917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459188486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1953316222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852356266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010231394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4136678173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362998314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67975691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686587413"/>
                    </a:ext>
                  </a:extLst>
                </a:gridCol>
              </a:tblGrid>
              <a:tr h="21600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16000">
                <a:tc gridSpan="3" vMerge="1"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99657"/>
                  </a:ext>
                </a:extLst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합계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61,205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50,292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(10,913)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47,703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2,589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73,340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24,206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(49,134)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63,276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(39,070)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-62%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33,580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27,711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(5,869)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83%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26,041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1,670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41,050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(29,464)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35,188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(23,602)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-67%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야놀자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7,469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2,295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2693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여기어때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5,972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1,558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7262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쿠팡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910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70805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9910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13,360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7,327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18,246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(4,969)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18,033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27,375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11,185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(16,190)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23,281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(12,096)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-52%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42646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아고다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8,888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5,330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737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트립닷컴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3,003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2061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스마트인피니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2,697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1,996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970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익스피디아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1,646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1,003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3583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2,012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1,270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6943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인바운드</a:t>
                      </a:r>
                      <a:endParaRPr lang="en-US" altLang="ko-KR" sz="900" b="0" i="0" u="none" strike="noStrike" dirty="0" smtClean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4,410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4,335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98%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3,629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706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4,915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1,435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(3,480)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4,807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(3,372)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-70%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3251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홍콩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602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6219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대만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1,990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632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9408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싱가풀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3664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기타</a:t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1,718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sp>
        <p:nvSpPr>
          <p:cNvPr id="14" name="제목 1"/>
          <p:cNvSpPr txBox="1">
            <a:spLocks/>
          </p:cNvSpPr>
          <p:nvPr/>
        </p:nvSpPr>
        <p:spPr>
          <a:xfrm>
            <a:off x="7413507" y="771349"/>
            <a:ext cx="2076586" cy="2617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*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단위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: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객실수</a:t>
            </a:r>
            <a:endParaRPr kumimoji="0" lang="en-US" altLang="ko-KR" sz="7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1. GS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실적 현황</a:t>
            </a:r>
            <a:r>
              <a:rPr lang="en-US" altLang="ko-KR" sz="16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</a:t>
            </a: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_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국내 영업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022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23011"/>
              </p:ext>
            </p:extLst>
          </p:nvPr>
        </p:nvGraphicFramePr>
        <p:xfrm>
          <a:off x="428370" y="4815906"/>
          <a:ext cx="9012952" cy="1584000"/>
        </p:xfrm>
        <a:graphic>
          <a:graphicData uri="http://schemas.openxmlformats.org/drawingml/2006/table">
            <a:tbl>
              <a:tblPr/>
              <a:tblGrid>
                <a:gridCol w="170160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1007395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72126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349830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349830">
                  <a:extLst>
                    <a:ext uri="{9D8B030D-6E8A-4147-A177-3AD203B41FA5}">
                      <a16:colId xmlns:a16="http://schemas.microsoft.com/office/drawing/2014/main" val="4067169622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10806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356849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76452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76452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72258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42418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당월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예상실적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(05.01~05.31)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누계 실적 </a:t>
                      </a:r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(01.01~05.31)</a:t>
                      </a:r>
                      <a:endParaRPr lang="en-US" altLang="ko-KR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622" marR="36000" marT="762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(2,485)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54,773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17,290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(37,483)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36,863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(19,573)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46.9%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망길라오</a:t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2,154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692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(1,462)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32%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50926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탈로포포</a:t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1,917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894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(1,023)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47%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77293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(86)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4,853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2,650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(2,203)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3,901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(1,251)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67.9%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</a:tbl>
          </a:graphicData>
        </a:graphic>
      </p:graphicFrame>
      <p:sp>
        <p:nvSpPr>
          <p:cNvPr id="14" name="제목 1"/>
          <p:cNvSpPr txBox="1">
            <a:spLocks/>
          </p:cNvSpPr>
          <p:nvPr/>
        </p:nvSpPr>
        <p:spPr>
          <a:xfrm>
            <a:off x="7364741" y="771349"/>
            <a:ext cx="2076586" cy="2617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*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단위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: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내장객</a:t>
            </a:r>
            <a:endParaRPr kumimoji="0" lang="en-US" altLang="ko-KR" sz="7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2. GS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실적 현황</a:t>
            </a:r>
            <a:r>
              <a:rPr lang="en-US" altLang="ko-KR" sz="16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 </a:t>
            </a: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_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해외 영업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190546"/>
              </p:ext>
            </p:extLst>
          </p:nvPr>
        </p:nvGraphicFramePr>
        <p:xfrm>
          <a:off x="428368" y="1033069"/>
          <a:ext cx="9012954" cy="3723840"/>
        </p:xfrm>
        <a:graphic>
          <a:graphicData uri="http://schemas.openxmlformats.org/drawingml/2006/table">
            <a:tbl>
              <a:tblPr/>
              <a:tblGrid>
                <a:gridCol w="169821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728299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24244929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190198473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67497670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7601591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459188486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1953316222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852356266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010231394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4136678173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362998314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67975691"/>
                    </a:ext>
                  </a:extLst>
                </a:gridCol>
                <a:gridCol w="579631">
                  <a:extLst>
                    <a:ext uri="{9D8B030D-6E8A-4147-A177-3AD203B41FA5}">
                      <a16:colId xmlns:a16="http://schemas.microsoft.com/office/drawing/2014/main" val="686587413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구  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9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OTB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99657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소노펠리체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CC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4,071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1,586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(2,485)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39%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69721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망길라오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2,154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692</a:t>
                      </a:r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31990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5552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60022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15841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96897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610048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탈로포포</a:t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1,917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894</a:t>
                      </a:r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42087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69823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11630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38270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267397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919630"/>
                  </a:ext>
                </a:extLst>
              </a:tr>
              <a:tr h="108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66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3061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99986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77635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68106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21048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D0D0D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D0D0D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/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66236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550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428368" y="660339"/>
            <a:ext cx="6886756" cy="364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en-US" altLang="ko-KR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 xml:space="preserve">3. GS </a:t>
            </a:r>
            <a:r>
              <a:rPr lang="ko-KR" altLang="en-US" sz="16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주간 업무</a:t>
            </a: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graphicFrame>
        <p:nvGraphicFramePr>
          <p:cNvPr id="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32874"/>
              </p:ext>
            </p:extLst>
          </p:nvPr>
        </p:nvGraphicFramePr>
        <p:xfrm>
          <a:off x="428368" y="1024717"/>
          <a:ext cx="8928000" cy="5508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2357003294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전주 주요사항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금주 계획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3204000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50" b="0" i="0" kern="1200" spc="50" baseline="0" dirty="0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1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5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</a:t>
                      </a:r>
                      <a:r>
                        <a:rPr lang="ko-KR" altLang="en-US" sz="11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</a:t>
                      </a:r>
                      <a:r>
                        <a:rPr kumimoji="0" lang="ko-KR" altLang="en-US" sz="1100" b="0" i="0" u="none" strike="noStrike" kern="1200" cap="none" spc="0" normalizeH="0" baseline="0" noProof="0" dirty="0" err="1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발디파크</a:t>
                      </a: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메인 채널 홍보 및 노출 강화</a:t>
                      </a:r>
                      <a:endParaRPr kumimoji="0" lang="en-US" altLang="ko-KR" sz="11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
1. OTA 5월 FCST 36,400실 (목표比 108%)
 - 여기어때/야놀자 중심 볼륨 확대
2. G-OTA 아고다 메가세일 연계 추가 노출
3. 비발디파크 메인 채널 홍보 강화</a:t>
                      </a: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kumimoji="0" lang="en-US" altLang="ko-KR" sz="11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50" b="0" i="0" kern="1200" spc="50" baseline="0" dirty="0" err="1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인바운드</a:t>
                      </a:r>
                      <a:endParaRPr lang="en-US" altLang="ko-KR" sz="1150" b="0" i="0" kern="1200" spc="50" baseline="0" dirty="0" smtClean="0"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춘천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삼악산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케이블카 티켓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선판매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진행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1. 인바운드 FCST 4,695실 (목표比 106%)
 - 대만 1,990실 호조세 지속
2. 삼악산 케이블카 대만/홍콩 선판매 확대</a:t>
                      </a: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53889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50" b="0" i="0" kern="1200" spc="50" baseline="0" dirty="0" smtClean="0">
                          <a:solidFill>
                            <a:schemeClr val="tx1"/>
                          </a:solidFill>
                          <a:effectLst/>
                          <a:latin typeface="대명체 굵게" panose="020B0600000101010101" pitchFamily="50" charset="-127"/>
                          <a:ea typeface="대명체 굵게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아웃바운드</a:t>
                      </a:r>
                      <a:endParaRPr lang="en-US" altLang="ko-KR" sz="1150" b="0" i="0" kern="1200" spc="50" baseline="0" dirty="0" smtClean="0">
                        <a:solidFill>
                          <a:schemeClr val="tx1"/>
                        </a:solidFill>
                        <a:effectLst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괌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하이퐁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회원 특가 프로모션 준비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1. 괌/하이퐁 회원 특가 프로모션 실행
 - 50% 할인 특가 (이용기간 6~8월)
2. 하이퐁 달성률 개선 집중</a:t>
                      </a:r>
                    </a:p>
                  </a:txBody>
                  <a:tcPr marL="108000" marR="36000" marT="36000" marB="36000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83153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 xml:space="preserve">Ⅲ. [GS] </a:t>
            </a:r>
            <a:r>
              <a:rPr lang="ko-KR" altLang="en-US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53757" y="1523407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5월 13일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057858"/>
              </p:ext>
            </p:extLst>
          </p:nvPr>
        </p:nvGraphicFramePr>
        <p:xfrm>
          <a:off x="5364244" y="1677612"/>
          <a:ext cx="3852907" cy="1806635"/>
        </p:xfrm>
        <a:graphic>
          <a:graphicData uri="http://schemas.openxmlformats.org/drawingml/2006/table">
            <a:tbl>
              <a:tblPr/>
              <a:tblGrid>
                <a:gridCol w="553765">
                  <a:extLst>
                    <a:ext uri="{9D8B030D-6E8A-4147-A177-3AD203B41FA5}">
                      <a16:colId xmlns:a16="http://schemas.microsoft.com/office/drawing/2014/main" val="2183238075"/>
                    </a:ext>
                  </a:extLst>
                </a:gridCol>
                <a:gridCol w="699013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99703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557550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952487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90389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</a:tblGrid>
              <a:tr h="232625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66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66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3064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3064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진도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27325"/>
                  </a:ext>
                </a:extLst>
              </a:tr>
              <a:tr h="30646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6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76887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8061199" y="1514781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</a:t>
            </a:r>
            <a:r>
              <a:rPr lang="en-US" altLang="ko-KR" sz="600" dirty="0">
                <a:solidFill>
                  <a:prstClr val="black"/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5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월 13일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250963"/>
              </p:ext>
            </p:extLst>
          </p:nvPr>
        </p:nvGraphicFramePr>
        <p:xfrm>
          <a:off x="1231499" y="1686687"/>
          <a:ext cx="3926058" cy="2170734"/>
        </p:xfrm>
        <a:graphic>
          <a:graphicData uri="http://schemas.openxmlformats.org/drawingml/2006/table">
            <a:tbl>
              <a:tblPr/>
              <a:tblGrid>
                <a:gridCol w="500568">
                  <a:extLst>
                    <a:ext uri="{9D8B030D-6E8A-4147-A177-3AD203B41FA5}">
                      <a16:colId xmlns:a16="http://schemas.microsoft.com/office/drawing/2014/main" val="2183238075"/>
                    </a:ext>
                  </a:extLst>
                </a:gridCol>
                <a:gridCol w="631862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42092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503990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860986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43280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  <a:gridCol w="443280">
                  <a:extLst>
                    <a:ext uri="{9D8B030D-6E8A-4147-A177-3AD203B41FA5}">
                      <a16:colId xmlns:a16="http://schemas.microsoft.com/office/drawing/2014/main" val="1655497164"/>
                    </a:ext>
                  </a:extLst>
                </a:gridCol>
              </a:tblGrid>
              <a:tr h="267996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66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66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379661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비발디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거제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</a:p>
                    <a:p>
                      <a:pPr algn="ctr" fontAlgn="ctr"/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여수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단양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ko-KR" altLang="en-US" sz="65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18,667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마켓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빅스마일데이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양평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3,900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예약하기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(5.1~10)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30,045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6,061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번가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바다가는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(5.4~10)</a:t>
                      </a:r>
                      <a:endParaRPr lang="ko-KR" altLang="en-US" sz="8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9,550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놀이의 발견 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5.4~10)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1,145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27325"/>
                  </a:ext>
                </a:extLst>
              </a:tr>
              <a:tr h="29939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델피노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21,765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1,511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다온맘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(5.6~5.9)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7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9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4"/>
          <p:cNvGraphicFramePr>
            <a:graphicFrameLocks noGrp="1"/>
          </p:cNvGraphicFramePr>
          <p:nvPr>
            <p:extLst/>
          </p:nvPr>
        </p:nvGraphicFramePr>
        <p:xfrm>
          <a:off x="352755" y="658314"/>
          <a:ext cx="9208757" cy="5907949"/>
        </p:xfrm>
        <a:graphic>
          <a:graphicData uri="http://schemas.openxmlformats.org/drawingml/2006/table">
            <a:tbl>
              <a:tblPr/>
              <a:tblGrid>
                <a:gridCol w="538895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8669862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</a:tblGrid>
              <a:tr h="281666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주요 </a:t>
                      </a:r>
                      <a:r>
                        <a:rPr kumimoji="1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영업현황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 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(5~6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)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5626283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i="0" kern="800" spc="30" baseline="0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GS</a:t>
                      </a:r>
                    </a:p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800" spc="3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6237627" y="187418"/>
            <a:ext cx="3283554" cy="3643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j-cs"/>
              </a:rPr>
              <a:t>Sales Marketing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j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7112" y="934840"/>
            <a:ext cx="2488182" cy="330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객실 실적 현황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(OTA, GOTA, Inbound)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968974" y="1200804"/>
          <a:ext cx="4143657" cy="3361713"/>
        </p:xfrm>
        <a:graphic>
          <a:graphicData uri="http://schemas.openxmlformats.org/drawingml/2006/table">
            <a:tbl>
              <a:tblPr/>
              <a:tblGrid>
                <a:gridCol w="354031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669908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1858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- 26.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04. 27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기준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55816"/>
                  </a:ext>
                </a:extLst>
              </a:tr>
              <a:tr h="185861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53995"/>
                  </a:ext>
                </a:extLst>
              </a:tr>
              <a:tr h="18586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18505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61,205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213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13,044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73,340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14,260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62,015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13,623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72,753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14,503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 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969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198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43,243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227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9,806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18,833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3,879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5535898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 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(587)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243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47,396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9,335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62,827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179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11,242 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  <a:tr h="2052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99205"/>
                  </a:ext>
                </a:extLst>
              </a:tr>
              <a:tr h="18505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33,580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7,572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41,050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8,292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7045905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34,915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8,344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39,700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8,295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73696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(335)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(73)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0794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23,766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6,056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8,649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1,929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431201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1,335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772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(1,350)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8757180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1952956"/>
                  </a:ext>
                </a:extLst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26,006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5,406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35,083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6,488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113103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5224493" y="1200803"/>
          <a:ext cx="4143657" cy="3367607"/>
        </p:xfrm>
        <a:graphic>
          <a:graphicData uri="http://schemas.openxmlformats.org/drawingml/2006/table">
            <a:tbl>
              <a:tblPr/>
              <a:tblGrid>
                <a:gridCol w="354031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669908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519953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185989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[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단위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: RNs_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실 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 ADR_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천원 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 Rev_</a:t>
                      </a: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백만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]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55816"/>
                  </a:ext>
                </a:extLst>
              </a:tr>
              <a:tr h="185989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26Y </a:t>
                      </a:r>
                      <a:r>
                        <a:rPr 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53995"/>
                  </a:ext>
                </a:extLst>
              </a:tr>
              <a:tr h="18598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RNs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ADR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Rev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18518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23,215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5,096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27,375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5,544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22,420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217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4,870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27,860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5,745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137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15,298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3,396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8,794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1,830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18807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(795)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(3)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(226)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17,769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3,623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22,974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4,350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  <a:tr h="2171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757" marR="6757" marT="6757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6757" marR="6757" marT="6757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699205"/>
                  </a:ext>
                </a:extLst>
              </a:tr>
              <a:tr h="18518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In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bound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4,410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376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4,915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7045905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4,680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5,193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463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73696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100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(1)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0794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 (4/29)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4,179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354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1,390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120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7794439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GAP(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278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8757180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달성율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1952956"/>
                  </a:ext>
                </a:extLst>
              </a:tr>
              <a:tr h="18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6757" marR="6757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3,621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306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4,770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 xml:space="preserve">404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113103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919709" y="4578783"/>
            <a:ext cx="2121093" cy="330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■ </a:t>
            </a:r>
            <a:r>
              <a:rPr kumimoji="0" lang="en-US" altLang="ko-KR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아웃바운드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실적 현황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괌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하이퐁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n-cs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1044977" y="4925909"/>
          <a:ext cx="4143657" cy="1487726"/>
        </p:xfrm>
        <a:graphic>
          <a:graphicData uri="http://schemas.openxmlformats.org/drawingml/2006/table">
            <a:tbl>
              <a:tblPr/>
              <a:tblGrid>
                <a:gridCol w="283007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535514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82581004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0165919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21332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2124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하이퐁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26 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34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(2)</a:t>
                      </a: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" marR="36000" marT="1080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" marR="36000" marT="1080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달성률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63%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51%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52%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67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/>
          </p:nvPr>
        </p:nvGraphicFramePr>
        <p:xfrm>
          <a:off x="5287875" y="4925909"/>
          <a:ext cx="4143657" cy="1487726"/>
        </p:xfrm>
        <a:graphic>
          <a:graphicData uri="http://schemas.openxmlformats.org/drawingml/2006/table">
            <a:tbl>
              <a:tblPr/>
              <a:tblGrid>
                <a:gridCol w="283007">
                  <a:extLst>
                    <a:ext uri="{9D8B030D-6E8A-4147-A177-3AD203B41FA5}">
                      <a16:colId xmlns:a16="http://schemas.microsoft.com/office/drawing/2014/main" val="679443769"/>
                    </a:ext>
                  </a:extLst>
                </a:gridCol>
                <a:gridCol w="535514">
                  <a:extLst>
                    <a:ext uri="{9D8B030D-6E8A-4147-A177-3AD203B41FA5}">
                      <a16:colId xmlns:a16="http://schemas.microsoft.com/office/drawing/2014/main" val="213658324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79076762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404321993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82581004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501659191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638875754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2214655077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372696269"/>
                    </a:ext>
                  </a:extLst>
                </a:gridCol>
                <a:gridCol w="415642">
                  <a:extLst>
                    <a:ext uri="{9D8B030D-6E8A-4147-A177-3AD203B41FA5}">
                      <a16:colId xmlns:a16="http://schemas.microsoft.com/office/drawing/2014/main" val="1446041941"/>
                    </a:ext>
                  </a:extLst>
                </a:gridCol>
              </a:tblGrid>
              <a:tr h="21332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분</a:t>
                      </a: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객실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골프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F&amp;B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81703"/>
                  </a:ext>
                </a:extLst>
              </a:tr>
              <a:tr h="2124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괌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757" marR="6757" marT="675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26 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393285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744824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OTB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151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151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487246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FCST(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Aft>
                          <a:spcPts val="600"/>
                        </a:spcAft>
                      </a:pP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0" marT="675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3218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달성률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목표比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39%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53%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35%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0402290"/>
                  </a:ext>
                </a:extLst>
              </a:tr>
              <a:tr h="21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25' Actual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230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222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30882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7455" y="173612"/>
            <a:ext cx="23348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 xml:space="preserve">Ⅵ.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GS_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주간 이슈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94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7455" y="173612"/>
            <a:ext cx="23348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Ⅵ. GS_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대명체 굵게" panose="020B0600000101010101" pitchFamily="50" charset="-127"/>
                <a:ea typeface="대명체 굵게" panose="020B0600000101010101" pitchFamily="50" charset="-127"/>
                <a:cs typeface="+mn-cs"/>
              </a:rPr>
              <a:t>주간 이슈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대명체 굵게" panose="020B0600000101010101" pitchFamily="50" charset="-127"/>
              <a:ea typeface="대명체 굵게" panose="020B0600000101010101" pitchFamily="50" charset="-127"/>
              <a:cs typeface="+mn-cs"/>
            </a:endParaRPr>
          </a:p>
        </p:txBody>
      </p:sp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418292"/>
              </p:ext>
            </p:extLst>
          </p:nvPr>
        </p:nvGraphicFramePr>
        <p:xfrm>
          <a:off x="352755" y="658314"/>
          <a:ext cx="9208757" cy="5891005"/>
        </p:xfrm>
        <a:graphic>
          <a:graphicData uri="http://schemas.openxmlformats.org/drawingml/2006/table">
            <a:tbl>
              <a:tblPr/>
              <a:tblGrid>
                <a:gridCol w="538895">
                  <a:extLst>
                    <a:ext uri="{9D8B030D-6E8A-4147-A177-3AD203B41FA5}">
                      <a16:colId xmlns:a16="http://schemas.microsoft.com/office/drawing/2014/main" val="1854119286"/>
                    </a:ext>
                  </a:extLst>
                </a:gridCol>
                <a:gridCol w="4334931">
                  <a:extLst>
                    <a:ext uri="{9D8B030D-6E8A-4147-A177-3AD203B41FA5}">
                      <a16:colId xmlns:a16="http://schemas.microsoft.com/office/drawing/2014/main" val="698523898"/>
                    </a:ext>
                  </a:extLst>
                </a:gridCol>
                <a:gridCol w="4334931">
                  <a:extLst>
                    <a:ext uri="{9D8B030D-6E8A-4147-A177-3AD203B41FA5}">
                      <a16:colId xmlns:a16="http://schemas.microsoft.com/office/drawing/2014/main" val="2357003294"/>
                    </a:ext>
                  </a:extLst>
                </a:gridCol>
              </a:tblGrid>
              <a:tr h="267508"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구분  </a:t>
                      </a:r>
                    </a:p>
                  </a:txBody>
                  <a:tcPr marL="89661" marR="89661" marT="44856" marB="4485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전주 주요사항</a:t>
                      </a:r>
                    </a:p>
                  </a:txBody>
                  <a:tcPr marL="89661" marR="89661" marT="44856" marB="44856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 xml:space="preserve"> </a:t>
                      </a: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금주 계획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89661" marR="89661" marT="44856" marB="4485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17854"/>
                  </a:ext>
                </a:extLst>
              </a:tr>
              <a:tr h="5618413">
                <a:tc>
                  <a:txBody>
                    <a:bodyPr/>
                    <a:lstStyle>
                      <a:lvl1pPr marL="227013" indent="-22701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9890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5287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206851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608263" indent="-449263" defTabSz="898525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30654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35226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9798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4437063" indent="-449263" defTabSz="898525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i="0" kern="800" spc="30" baseline="0" dirty="0" smtClean="0"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GS</a:t>
                      </a:r>
                    </a:p>
                    <a:p>
                      <a:pPr marL="0" marR="0" lvl="0" indent="0" algn="ctr" defTabSz="898525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800" spc="3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  <a:sym typeface="Arial" panose="020B0604020202020204" pitchFamily="34" charset="0"/>
                        </a:rPr>
                        <a:t>FIT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전주 프로모션 실적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0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0" lang="en-US" altLang="ko-KR" sz="1000" b="1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“SONO X </a:t>
                      </a:r>
                      <a:r>
                        <a:rPr lang="ko-KR" altLang="en-US" sz="1000" b="0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트리니티</a:t>
                      </a:r>
                      <a:r>
                        <a:rPr lang="en-US" altLang="ko-KR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여기어때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공동 브랜드 기획전 운영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9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ko-KR" altLang="en-US" sz="900" b="0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트리니티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항공 사명 변경 브랜드 마케팅 진행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(4/22-30)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           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라이브 방송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전용 이벤트 페이지 및 배너 노출 → 실적 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80RNs (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제주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해운대</a:t>
                      </a:r>
                      <a:r>
                        <a:rPr lang="en-US" altLang="ko-KR" sz="900" b="0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000" kern="1200" baseline="0" noProof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인바운드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endParaRPr lang="en-US" altLang="ko-KR" sz="500" b="1" i="0" kern="1200" baseline="0" noProof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소노캄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고양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투고패키지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여행사 초청 시식회 진행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 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] 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띵킹독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치킨 판매 시식회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/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메인 업체 총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개사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, 12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명 참석 예정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(4/30)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아웃바운드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lang="en-US" altLang="ko-KR" sz="5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아임레디몰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”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해외사업장 상품 기획 협의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 </a:t>
                      </a:r>
                      <a:r>
                        <a:rPr lang="en-US" altLang="ko-KR" sz="900" kern="120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900" kern="120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900" kern="120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baseline="0" noProof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소노스테이션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회원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상품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구성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및 5월 </a:t>
                      </a:r>
                      <a:r>
                        <a:rPr lang="en-US" altLang="ko-KR" sz="9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오픈</a:t>
                      </a:r>
                      <a:r>
                        <a:rPr lang="en-US" altLang="ko-KR" sz="9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(~5/31)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5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kumimoji="0" lang="en-US" altLang="ko-KR" sz="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온라인</a:t>
                      </a:r>
                      <a:r>
                        <a:rPr lang="en-US" altLang="ko-KR" sz="1100" b="1" i="0" kern="1200" baseline="0" noProof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endParaRPr lang="en-US" altLang="ko-KR" sz="4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kumimoji="0" lang="ko-KR" altLang="en-US" sz="10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 보완 사업장 목표 달성 전략</a:t>
                      </a:r>
                      <a:endParaRPr kumimoji="0" lang="en-US" altLang="ko-KR" sz="10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2.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발디파크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메인 채널 홍보 및 노출 강화 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0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이벤트 탭 배너 및 메인 홍보 페이지 노출 예정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(5/1~19)</a:t>
                      </a:r>
                      <a:endParaRPr lang="en-US" altLang="ko-KR" sz="900" kern="1200" baseline="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-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: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놀유니버스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여기어떄때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마이리얼트립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카카오톡예약하기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트립비토즈</a:t>
                      </a:r>
                      <a:endParaRPr lang="en-US" altLang="ko-KR" sz="900" kern="1200" baseline="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춘천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삼악산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케이블카 티켓 </a:t>
                      </a:r>
                      <a:r>
                        <a:rPr lang="ko-KR" altLang="en-US" sz="1000" b="0" i="0" kern="1200" baseline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선판매</a:t>
                      </a:r>
                      <a:r>
                        <a:rPr lang="ko-KR" altLang="en-US" sz="1000" b="0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진행</a:t>
                      </a:r>
                      <a:endParaRPr lang="en-US" altLang="ko-KR" sz="1000" b="0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국가별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(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대만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홍콩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베트남</a:t>
                      </a:r>
                      <a:r>
                        <a:rPr kumimoji="0" lang="en-US" altLang="ko-KR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패키지여행사 대상 삼악산케이블카 </a:t>
                      </a:r>
                      <a:r>
                        <a:rPr kumimoji="0" lang="ko-KR" altLang="en-US" sz="9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지류권</a:t>
                      </a:r>
                      <a:r>
                        <a:rPr kumimoji="0" lang="ko-KR" altLang="en-US" sz="9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판매 및 계약  </a:t>
                      </a:r>
                      <a:endParaRPr lang="en-US" altLang="ko-KR" sz="11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kern="1200" baseline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아웃바운드</a:t>
                      </a:r>
                      <a:r>
                        <a:rPr lang="en-US" altLang="ko-KR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1" i="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endParaRPr lang="en-US" altLang="ko-KR" sz="400" kern="1200" baseline="0" noProof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1. 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괌</a:t>
                      </a: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하이퐁</a:t>
                      </a:r>
                      <a:r>
                        <a:rPr lang="ko-KR" altLang="en-US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회원 특가 프로모션 준비</a:t>
                      </a:r>
                      <a:endParaRPr lang="en-US" altLang="ko-KR" sz="10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 typeface="+mj-lt"/>
                        <a:buNone/>
                      </a:pPr>
                      <a:r>
                        <a:rPr lang="en-US" altLang="ko-KR" sz="1000" kern="120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- </a:t>
                      </a:r>
                      <a:r>
                        <a:rPr lang="ko-KR" altLang="en-US" sz="900" kern="1200" baseline="0" noProof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기존가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대비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50%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할인 특가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or 1+1 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혜택 제공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이용기간 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-8</a:t>
                      </a:r>
                      <a:r>
                        <a:rPr lang="ko-KR" altLang="en-US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900" kern="1200" baseline="0" noProof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900" kern="1200" noProof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굵게" panose="020B0600000101010101" pitchFamily="50" charset="-127"/>
                        <a:ea typeface="대명체 굵게" panose="020B0600000101010101" pitchFamily="50" charset="-127"/>
                        <a:cs typeface="+mn-cs"/>
                      </a:endParaRPr>
                    </a:p>
                  </a:txBody>
                  <a:tcPr marL="108000" marR="36000" marT="36000" marB="36000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76747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6237627" y="187418"/>
            <a:ext cx="3283554" cy="3643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j-cs"/>
              </a:rPr>
              <a:t>Sales Marketing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대명체 보통" panose="020B0600000101010101" pitchFamily="50" charset="-127"/>
              <a:ea typeface="대명체 보통" panose="020B0600000101010101" pitchFamily="50" charset="-127"/>
              <a:cs typeface="+mj-cs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941296" y="1578683"/>
          <a:ext cx="4231341" cy="1794636"/>
        </p:xfrm>
        <a:graphic>
          <a:graphicData uri="http://schemas.openxmlformats.org/drawingml/2006/table">
            <a:tbl>
              <a:tblPr/>
              <a:tblGrid>
                <a:gridCol w="546847">
                  <a:extLst>
                    <a:ext uri="{9D8B030D-6E8A-4147-A177-3AD203B41FA5}">
                      <a16:colId xmlns:a16="http://schemas.microsoft.com/office/drawing/2014/main" val="352769513"/>
                    </a:ext>
                  </a:extLst>
                </a:gridCol>
                <a:gridCol w="690283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592213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613212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953414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46539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  <a:gridCol w="388833">
                  <a:extLst>
                    <a:ext uri="{9D8B030D-6E8A-4147-A177-3AD203B41FA5}">
                      <a16:colId xmlns:a16="http://schemas.microsoft.com/office/drawing/2014/main" val="364933247"/>
                    </a:ext>
                  </a:extLst>
                </a:gridCol>
              </a:tblGrid>
              <a:tr h="241102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5월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실적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2945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전사업장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18,298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아고다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2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분기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메가세일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0" lang="en-US" altLang="ko-KR" sz="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(5/7~5/21)</a:t>
                      </a:r>
                      <a:endParaRPr kumimoji="0" lang="ko-KR" alt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1,500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18,540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640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쿠팡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골드박스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4.27~4.30)</a:t>
                      </a: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변산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4.29)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77</a:t>
                      </a:r>
                      <a:endParaRPr lang="ko-KR" altLang="en-US" sz="700" kern="1200" baseline="0" dirty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04334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10,420</a:t>
                      </a:r>
                      <a:endParaRPr lang="en-US" altLang="ko-KR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840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24016"/>
                  </a:ext>
                </a:extLst>
              </a:tr>
              <a:tr h="2945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인플루언서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965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6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11,695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2,131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리리맘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(4.28~30)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65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19791"/>
                  </a:ext>
                </a:extLst>
              </a:tr>
              <a:tr h="2411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9,550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제니져니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(4.27~5.3)</a:t>
                      </a:r>
                      <a:endParaRPr lang="ko-KR" altLang="en-US" sz="6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500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rgbClr val="0000FF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360</a:t>
                      </a:r>
                      <a:endParaRPr lang="ko-KR" altLang="en-US" sz="700" kern="1200" baseline="0" dirty="0" smtClean="0">
                        <a:solidFill>
                          <a:srgbClr val="0000FF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4045131" y="1394017"/>
            <a:ext cx="12202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[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단위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 xml:space="preserve"> : 실 / 4월 27일 FCST </a:t>
            </a:r>
            <a:r>
              <a:rPr kumimoji="0" lang="en-US" altLang="ko-KR" sz="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기준</a:t>
            </a:r>
            <a:r>
              <a:rPr kumimoji="0" lang="en-US" altLang="ko-KR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대명체 보통" panose="020B0600000101010101" pitchFamily="50" charset="-127"/>
                <a:ea typeface="대명체 보통" panose="020B0600000101010101" pitchFamily="50" charset="-127"/>
                <a:cs typeface="+mn-cs"/>
              </a:rPr>
              <a:t>]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5317707" y="1578684"/>
          <a:ext cx="4203474" cy="1794635"/>
        </p:xfrm>
        <a:graphic>
          <a:graphicData uri="http://schemas.openxmlformats.org/drawingml/2006/table">
            <a:tbl>
              <a:tblPr/>
              <a:tblGrid>
                <a:gridCol w="598218">
                  <a:extLst>
                    <a:ext uri="{9D8B030D-6E8A-4147-A177-3AD203B41FA5}">
                      <a16:colId xmlns:a16="http://schemas.microsoft.com/office/drawing/2014/main" val="352769513"/>
                    </a:ext>
                  </a:extLst>
                </a:gridCol>
                <a:gridCol w="755128">
                  <a:extLst>
                    <a:ext uri="{9D8B030D-6E8A-4147-A177-3AD203B41FA5}">
                      <a16:colId xmlns:a16="http://schemas.microsoft.com/office/drawing/2014/main" val="3324158435"/>
                    </a:ext>
                  </a:extLst>
                </a:gridCol>
                <a:gridCol w="647845">
                  <a:extLst>
                    <a:ext uri="{9D8B030D-6E8A-4147-A177-3AD203B41FA5}">
                      <a16:colId xmlns:a16="http://schemas.microsoft.com/office/drawing/2014/main" val="2320983254"/>
                    </a:ext>
                  </a:extLst>
                </a:gridCol>
                <a:gridCol w="670818">
                  <a:extLst>
                    <a:ext uri="{9D8B030D-6E8A-4147-A177-3AD203B41FA5}">
                      <a16:colId xmlns:a16="http://schemas.microsoft.com/office/drawing/2014/main" val="2954553525"/>
                    </a:ext>
                  </a:extLst>
                </a:gridCol>
                <a:gridCol w="1042978">
                  <a:extLst>
                    <a:ext uri="{9D8B030D-6E8A-4147-A177-3AD203B41FA5}">
                      <a16:colId xmlns:a16="http://schemas.microsoft.com/office/drawing/2014/main" val="2816554920"/>
                    </a:ext>
                  </a:extLst>
                </a:gridCol>
                <a:gridCol w="488487">
                  <a:extLst>
                    <a:ext uri="{9D8B030D-6E8A-4147-A177-3AD203B41FA5}">
                      <a16:colId xmlns:a16="http://schemas.microsoft.com/office/drawing/2014/main" val="1419378014"/>
                    </a:ext>
                  </a:extLst>
                </a:gridCol>
              </a:tblGrid>
              <a:tr h="237007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구분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사업장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5월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전체목표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FCST 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5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kumimoji="0" lang="ko-KR" altLang="en-US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比</a:t>
                      </a:r>
                      <a:r>
                        <a:rPr kumimoji="0" lang="en-US" altLang="ko-KR" sz="5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채널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KPI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81793"/>
                  </a:ext>
                </a:extLst>
              </a:tr>
              <a:tr h="23700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기획전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비발디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거제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</a:p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여수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단양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변산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215,280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18,667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G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마켓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빅스마일데이</a:t>
                      </a:r>
                      <a:endParaRPr kumimoji="0" lang="en-US" altLang="ko-KR" sz="7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850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15937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양평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3,900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카카오톡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예약하기 </a:t>
                      </a:r>
                      <a:r>
                        <a:rPr lang="en-US" altLang="ko-KR" sz="6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(5.1~10)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76915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양양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, 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삼척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30,045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6,061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번가 </a:t>
                      </a:r>
                      <a:r>
                        <a:rPr kumimoji="0" lang="ko-KR" altLang="en-US" sz="700" b="0" i="0" u="none" strike="noStrike" kern="1200" cap="none" spc="0" normalizeH="0" baseline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바다가는</a:t>
                      </a:r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(5.4~10)</a:t>
                      </a:r>
                      <a:endParaRPr lang="ko-KR" altLang="en-US" sz="8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988397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천안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9,550</a:t>
                      </a:r>
                      <a:endParaRPr lang="ko-KR" altLang="en-US" sz="6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804</a:t>
                      </a: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놀이의 발견 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5.4~10)</a:t>
                      </a:r>
                      <a:endParaRPr kumimoji="0" lang="ko-KR" altLang="en-US" sz="7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44649"/>
                  </a:ext>
                </a:extLst>
              </a:tr>
              <a:tr h="23700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인플루언서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비발디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벨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캄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21,855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1,145</a:t>
                      </a:r>
                      <a:endParaRPr lang="ko-KR" altLang="en-US" sz="70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번가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X</a:t>
                      </a:r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미소데이즈</a:t>
                      </a:r>
                      <a:endParaRPr lang="en-US" altLang="ko-KR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5.1~4)</a:t>
                      </a:r>
                      <a:endParaRPr lang="ko-KR" altLang="en-US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73391"/>
                  </a:ext>
                </a:extLst>
              </a:tr>
              <a:tr h="23700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델피노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21,765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▼ </a:t>
                      </a:r>
                      <a:r>
                        <a:rPr lang="en-US" altLang="ko-KR" sz="70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1,511</a:t>
                      </a:r>
                      <a:endParaRPr lang="ko-KR" altLang="en-US" sz="700" kern="1200" baseline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kern="1200" baseline="0" dirty="0" err="1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다온맘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 xml:space="preserve"> </a:t>
                      </a:r>
                      <a:r>
                        <a:rPr lang="en-US" altLang="ko-KR" sz="700" kern="1200" baseline="0" dirty="0" smtClean="0">
                          <a:solidFill>
                            <a:schemeClr val="tx1"/>
                          </a:solidFill>
                          <a:latin typeface="대명체 보통" panose="020B0600000101010101" charset="-127"/>
                          <a:ea typeface="대명체 보통" panose="020B0600000101010101" charset="-127"/>
                          <a:cs typeface="+mn-cs"/>
                        </a:rPr>
                        <a:t>(5.6~5.9)</a:t>
                      </a:r>
                      <a:endParaRPr lang="ko-KR" altLang="en-US" sz="700" kern="1200" baseline="0" dirty="0" smtClean="0">
                        <a:solidFill>
                          <a:schemeClr val="tx1"/>
                        </a:solidFill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 smtClean="0"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300</a:t>
                      </a:r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2000" marR="4572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397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79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56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28368" y="660339"/>
            <a:ext cx="6886756" cy="364378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ctr" lIns="72000"/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  <a:latin typeface="대명체 굵게"/>
                <a:ea typeface="대명체 굵게"/>
              </a:rPr>
              <a:t>3-1. GS 주간 인사이트</a:t>
            </a:r>
          </a:p>
        </p:txBody>
      </p:sp>
      <p:sp>
        <p:nvSpPr>
          <p:cNvPr id="0" name=""/>
          <p:cNvSpPr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anchor="ctr" lIns="72000"/>
          <a:lstStyle/>
          <a:p>
            <a:pPr algn="l"/>
            <a:r>
              <a:rPr lang="ko-KR" altLang="en-US" sz="1200" dirty="0">
                <a:solidFill>
                  <a:srgbClr val="000000"/>
                </a:solidFill>
                <a:latin typeface="대명체 굵게"/>
                <a:ea typeface="대명체 굵게"/>
              </a:rPr>
              <a:t>Ⅲ. [GS] 주간 업무 보고</a:t>
            </a:r>
          </a:p>
        </p:txBody>
      </p:sp>
      <p:sp>
        <p:nvSpPr>
          <p:cNvPr id="0" name=""/>
          <p:cNvSpPr txBox="1"/>
          <p:nvPr/>
        </p:nvSpPr>
        <p:spPr>
          <a:xfrm>
            <a:off x="428368" y="1100000"/>
            <a:ext cx="40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/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 xml:space="preserve">■ </a:t>
            </a:r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>기획전(86XX) 실적 현황</a:t>
            </a:r>
            <a:endParaRPr lang="ko-KR" sz="760" dirty="0"/>
          </a:p>
        </p:txBody>
      </p:sp>
      <p:sp>
        <p:nvSpPr>
          <p:cNvPr id="0" name=""/>
          <p:cNvSpPr txBox="1"/>
          <p:nvPr/>
        </p:nvSpPr>
        <p:spPr>
          <a:xfrm>
            <a:off x="428368" y="1400000"/>
            <a:ext cx="8500000" cy="40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5~7월 기획전 예약 합계: </a:t>
            </a:r>
            <a:r>
              <a:rPr lang="ko-KR" altLang="en-US" sz="900" b="1" dirty="0">
                <a:solidFill>
                  <a:srgbClr val="1F4E79"/>
                </a:solidFill>
                <a:latin typeface="대명체 굵게"/>
                <a:ea typeface="대명체 굵게"/>
              </a:rPr>
              <a:t>3,158실</a:t>
            </a:r>
            <a:r>
              <a:rPr lang="ko-KR" altLang="en-US" sz="8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  |  총매출 798.2백만</a:t>
            </a:r>
            <a:endParaRPr lang="ko-KR" sz="760" dirty="0"/>
          </a:p>
          <a:p>
            <a:pPr algn="l">
              <a:lnSpc>
                <a:spcPts val="1000"/>
              </a:lnSpc>
            </a:pPr>
            <a:r>
              <a:rPr lang="ko-KR" altLang="en-US" sz="760" dirty="0">
                <a:solidFill>
                  <a:srgbClr val="555555"/>
                </a:solidFill>
                <a:latin typeface="대명체 보통"/>
                <a:ea typeface="대명체 보통"/>
              </a:rPr>
              <a:t>ADR 178천원  |  객실매출 561.7백만  |  수수료 79.2백만</a:t>
            </a:r>
            <a:endParaRPr lang="ko-KR" sz="760" dirty="0"/>
          </a:p>
        </p:txBody>
      </p:sp>
      <p:graphicFrame>
        <p:nvGraphicFramePr>
          <p:cNvPr id="0" name=""/>
          <p:cNvGraphicFramePr>
            <a:graphicFrameLocks noGrp="1"/>
          </p:cNvGraphicFramePr>
          <p:nvPr/>
        </p:nvGraphicFramePr>
        <p:xfrm>
          <a:off x="428368" y="1850000"/>
          <a:ext cx="5800000" cy="900000"/>
        </p:xfrm>
        <a:graphic>
          <a:graphicData uri="http://schemas.openxmlformats.org/drawingml/2006/table">
            <a:tbl>
              <a:tblPr firstRow="1" bandRow="1">
                <a:tblStyle/>
              </a:tblPr>
              <a:tblGrid>
                <a:gridCol w="1000000"/>
                <a:gridCol w="1200000"/>
                <a:gridCol w="1200000"/>
                <a:gridCol w="1200000"/>
                <a:gridCol w="1200000"/>
              </a:tblGrid>
              <a:tr h="22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구분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5월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6월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7월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합계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예약(실)</a:t>
                      </a:r>
                    </a:p>
                  </a:txBody>
                  <a:tcPr marL="36000" marR="36000" marT="18000" marB="18000">
                    <a:solidFill>
                      <a:srgbClr val="F2F2F2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761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1,417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980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b="1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3,158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ADR(천원)</a:t>
                      </a:r>
                    </a:p>
                  </a:txBody>
                  <a:tcPr marL="36000" marR="36000" marT="18000" marB="18000">
                    <a:solidFill>
                      <a:srgbClr val="F2F2F2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215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168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164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b="1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178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총매출(백만)</a:t>
                      </a:r>
                    </a:p>
                  </a:txBody>
                  <a:tcPr marL="36000" marR="36000" marT="18000" marB="18000">
                    <a:solidFill>
                      <a:srgbClr val="F2F2F2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206.4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342.6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249.1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20" b="1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798.2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</a:tbl>
          </a:graphicData>
        </a:graphic>
      </p:graphicFrame>
      <p:graphicFrame>
        <p:nvGraphicFramePr>
          <p:cNvPr id="0" name=""/>
          <p:cNvGraphicFramePr>
            <a:graphicFrameLocks noGrp="1"/>
          </p:cNvGraphicFramePr>
          <p:nvPr/>
        </p:nvGraphicFramePr>
        <p:xfrm>
          <a:off x="428368" y="2850000"/>
          <a:ext cx="5200000" cy="1200000"/>
        </p:xfrm>
        <a:graphic>
          <a:graphicData uri="http://schemas.openxmlformats.org/drawingml/2006/table">
            <a:tbl>
              <a:tblPr firstRow="1" bandRow="1">
                <a:tblStyle/>
              </a:tblPr>
              <a:tblGrid>
                <a:gridCol w="2000000"/>
                <a:gridCol w="1100000"/>
                <a:gridCol w="900000"/>
                <a:gridCol w="1200000"/>
              </a:tblGrid>
              <a:tr h="22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사업장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예약(실)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ADR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총매출(백만)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벨 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2,473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162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575.9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문 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273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135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53.4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펠리체 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199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270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76.3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캄 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83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332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32.2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펠리체 빌리지 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74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326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32.7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</a:tbl>
          </a:graphicData>
        </a:graphic>
      </p:graphicFrame>
      <p:sp>
        <p:nvSpPr>
          <p:cNvPr id="0" name=""/>
          <p:cNvSpPr txBox="1"/>
          <p:nvPr/>
        </p:nvSpPr>
        <p:spPr>
          <a:xfrm>
            <a:off x="428368" y="4200000"/>
            <a:ext cx="45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/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 xml:space="preserve">■ </a:t>
            </a:r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>인플루언서 마케팅 성과</a:t>
            </a:r>
            <a:endParaRPr lang="ko-KR" sz="760" dirty="0"/>
          </a:p>
        </p:txBody>
      </p:sp>
      <p:sp>
        <p:nvSpPr>
          <p:cNvPr id="0" name=""/>
          <p:cNvSpPr txBox="1"/>
          <p:nvPr/>
        </p:nvSpPr>
        <p:spPr>
          <a:xfrm>
            <a:off x="428368" y="4500000"/>
            <a:ext cx="85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매칭 캠페인: </a:t>
            </a:r>
            <a:r>
              <a:rPr lang="ko-KR" altLang="en-US" sz="900" b="1" dirty="0">
                <a:solidFill>
                  <a:srgbClr val="1F4E79"/>
                </a:solidFill>
                <a:latin typeface="대명체 굵게"/>
                <a:ea typeface="대명체 굵게"/>
              </a:rPr>
              <a:t>30건</a:t>
            </a:r>
            <a:r>
              <a:rPr lang="ko-KR" altLang="en-US" sz="8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  |  총 실적: </a:t>
            </a:r>
            <a:r>
              <a:rPr lang="ko-KR" altLang="en-US" sz="900" b="1" dirty="0">
                <a:solidFill>
                  <a:srgbClr val="1F4E79"/>
                </a:solidFill>
                <a:latin typeface="대명체 굵게"/>
                <a:ea typeface="대명체 굵게"/>
              </a:rPr>
              <a:t>14,305실</a:t>
            </a:r>
            <a:r>
              <a:rPr lang="ko-KR" altLang="en-US" sz="8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  |  매출: </a:t>
            </a:r>
            <a:r>
              <a:rPr lang="ko-KR" altLang="en-US" sz="900" b="1" dirty="0">
                <a:solidFill>
                  <a:srgbClr val="1F4E79"/>
                </a:solidFill>
                <a:latin typeface="대명체 굵게"/>
                <a:ea typeface="대명체 굵게"/>
              </a:rPr>
              <a:t>3,637.2백만</a:t>
            </a:r>
            <a:endParaRPr lang="ko-KR" sz="760" dirty="0"/>
          </a:p>
        </p:txBody>
      </p:sp>
      <p:graphicFrame>
        <p:nvGraphicFramePr>
          <p:cNvPr id="0" name=""/>
          <p:cNvGraphicFramePr>
            <a:graphicFrameLocks noGrp="1"/>
          </p:cNvGraphicFramePr>
          <p:nvPr/>
        </p:nvGraphicFramePr>
        <p:xfrm>
          <a:off x="428368" y="4850000"/>
          <a:ext cx="7200000" cy="1400000"/>
        </p:xfrm>
        <a:graphic>
          <a:graphicData uri="http://schemas.openxmlformats.org/drawingml/2006/table">
            <a:tbl>
              <a:tblPr firstRow="1" bandRow="1">
                <a:tblStyle/>
              </a:tblPr>
              <a:tblGrid>
                <a:gridCol w="3200000"/>
                <a:gridCol w="1200000"/>
                <a:gridCol w="1000000"/>
                <a:gridCol w="1800000"/>
              </a:tblGrid>
              <a:tr h="22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캠페인명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인플루언서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실적(실)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투숙기간</a:t>
                      </a:r>
                    </a:p>
                  </a:txBody>
                  <a:tcPr marL="36000" marR="36000" marT="18000" marB="18000">
                    <a:solidFill>
                      <a:srgbClr val="2E75B6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진도 - 인플루언서(요미맘)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요미맘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2,540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12-22 ~ 02-28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단양 - 인플루언서(지원플레이)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지원이랑놀자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1,132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12-29 ~ 02-28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비발디 - 인플루언서(룰루미뇽) X 11번가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룰루미뇽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1,030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12-08 ~ 02-28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비발디 - G마켓 x 인플루언서 룰루미뇽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룰루미뇽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1,030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07-20 ~ 09-30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9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천안 - 인플루언서 (지원플레이)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지원이랑놀자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917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12-18 ~ 02-28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9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28368" y="660339"/>
            <a:ext cx="6886756" cy="364378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ctr" lIns="72000"/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  <a:latin typeface="대명체 굵게"/>
                <a:ea typeface="대명체 굵게"/>
              </a:rPr>
              <a:t>3-2. GS 주간 인사이트</a:t>
            </a:r>
          </a:p>
        </p:txBody>
      </p:sp>
      <p:sp>
        <p:nvSpPr>
          <p:cNvPr id="0" name=""/>
          <p:cNvSpPr/>
          <p:nvPr/>
        </p:nvSpPr>
        <p:spPr>
          <a:xfrm>
            <a:off x="117455" y="173612"/>
            <a:ext cx="3003250" cy="249299"/>
          </a:xfrm>
          <a:prstGeom prst="rect">
            <a:avLst/>
          </a:prstGeom>
          <a:noFill/>
        </p:spPr>
        <p:txBody>
          <a:bodyPr anchor="ctr" lIns="72000"/>
          <a:lstStyle/>
          <a:p>
            <a:pPr algn="l"/>
            <a:r>
              <a:rPr lang="ko-KR" altLang="en-US" sz="1200" dirty="0">
                <a:solidFill>
                  <a:srgbClr val="000000"/>
                </a:solidFill>
                <a:latin typeface="대명체 굵게"/>
                <a:ea typeface="대명체 굵게"/>
              </a:rPr>
              <a:t>Ⅲ. [GS] 주간 업무 보고</a:t>
            </a:r>
          </a:p>
        </p:txBody>
      </p:sp>
      <p:sp>
        <p:nvSpPr>
          <p:cNvPr id="0" name=""/>
          <p:cNvSpPr txBox="1"/>
          <p:nvPr/>
        </p:nvSpPr>
        <p:spPr>
          <a:xfrm>
            <a:off x="428368" y="1100000"/>
            <a:ext cx="45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/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 xml:space="preserve">■ </a:t>
            </a:r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>채널 전략 실행 현황</a:t>
            </a:r>
            <a:endParaRPr lang="ko-KR" sz="760" dirty="0"/>
          </a:p>
        </p:txBody>
      </p:sp>
      <p:graphicFrame>
        <p:nvGraphicFramePr>
          <p:cNvPr id="0" name=""/>
          <p:cNvGraphicFramePr>
            <a:graphicFrameLocks noGrp="1"/>
          </p:cNvGraphicFramePr>
          <p:nvPr/>
        </p:nvGraphicFramePr>
        <p:xfrm>
          <a:off x="428368" y="1420000"/>
          <a:ext cx="7000000" cy="2000000"/>
        </p:xfrm>
        <a:graphic>
          <a:graphicData uri="http://schemas.openxmlformats.org/drawingml/2006/table">
            <a:tbl>
              <a:tblPr firstRow="1" bandRow="1">
                <a:tblStyle/>
              </a:tblPr>
              <a:tblGrid>
                <a:gridCol w="1800000"/>
                <a:gridCol w="1200000"/>
                <a:gridCol w="1000000"/>
                <a:gridCol w="1000000"/>
                <a:gridCol w="900000"/>
                <a:gridCol w="1100000"/>
              </a:tblGrid>
              <a:tr h="22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전략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사업장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달성률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실적(실)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ADR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20" b="1" dirty="0">
                          <a:solidFill>
                            <a:srgbClr val="FFFFFF"/>
                          </a:solidFill>
                          <a:latin typeface="대명체 굵게"/>
                          <a:ea typeface="대명체 굵게"/>
                        </a:rPr>
                        <a:t>매출(백만)</a:t>
                      </a:r>
                    </a:p>
                  </a:txBody>
                  <a:tcPr marL="36000" marR="36000" marT="18000" marB="18000">
                    <a:solidFill>
                      <a:srgbClr val="1F4E79"/>
                    </a:solidFill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OTA 비발디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비발디파크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1F4E79"/>
                          </a:solidFill>
                          <a:latin typeface="대명체 보통"/>
                          <a:ea typeface="대명체 보통"/>
                        </a:rPr>
                        <a:t>84.1%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3,200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142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454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 xml:space="preserve">  - 쿠팡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72.3%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245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 xml:space="preserve">  - 스마트인피니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65.8%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128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GOTA 양양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대명체 보통"/>
                          <a:ea typeface="대명체 보통"/>
                        </a:rPr>
                        <a:t>양양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60" b="1" dirty="0">
                          <a:solidFill>
                            <a:srgbClr val="C00000"/>
                          </a:solidFill>
                          <a:latin typeface="대명체 보통"/>
                          <a:ea typeface="대명체 보통"/>
                        </a:rPr>
                        <a:t>78.5%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1,800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128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>230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 xml:space="preserve">  - 트립비토즈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61.2%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60" dirty="0">
                          <a:solidFill>
                            <a:srgbClr val="666666"/>
                          </a:solidFill>
                          <a:latin typeface="대명체 보통"/>
                          <a:ea typeface="대명체 보통"/>
                        </a:rPr>
                        <a:t>89</a:t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60" dirty="0">
                          <a:solidFill>
                            <a:srgbClr val="000000"/>
                          </a:solidFill>
                          <a:latin typeface="대명체 보통"/>
                          <a:ea typeface="대명체 보통"/>
                        </a:rPr>
                        <a:t/>
                      </a:r>
                    </a:p>
                  </a:txBody>
                  <a:tcPr marL="36000" marR="36000" marT="18000" marB="18000">
                    <a:noFill/>
                    <a:ln w="6350">
                      <a:solidFill>
                        <a:srgbClr val="BFBFBF"/>
                      </a:solidFill>
                    </a:ln>
                  </a:tcPr>
                </a:tc>
              </a:tr>
            </a:tbl>
          </a:graphicData>
        </a:graphic>
      </p:graphicFrame>
      <p:sp>
        <p:nvSpPr>
          <p:cNvPr id="0" name=""/>
          <p:cNvSpPr txBox="1"/>
          <p:nvPr/>
        </p:nvSpPr>
        <p:spPr>
          <a:xfrm>
            <a:off x="428368" y="2900000"/>
            <a:ext cx="45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/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 xml:space="preserve">■ </a:t>
            </a:r>
            <a:r>
              <a:rPr lang="ko-KR" altLang="en-US" sz="1000" b="1" dirty="0">
                <a:solidFill>
                  <a:srgbClr val="1F4E79"/>
                </a:solidFill>
                <a:latin typeface="대명체 굵게"/>
                <a:ea typeface="대명체 굵게"/>
              </a:rPr>
              <a:t>YoY 픽업 추이</a:t>
            </a:r>
            <a:endParaRPr lang="ko-KR" sz="760" dirty="0"/>
          </a:p>
        </p:txBody>
      </p:sp>
      <p:sp>
        <p:nvSpPr>
          <p:cNvPr id="0" name=""/>
          <p:cNvSpPr txBox="1"/>
          <p:nvPr/>
        </p:nvSpPr>
        <p:spPr>
          <a:xfrm>
            <a:off x="428368" y="3200000"/>
            <a:ext cx="8800000" cy="120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lnSpc>
                <a:spcPts val="1200"/>
              </a:lnSpc>
            </a:pPr>
            <a:r>
              <a:rPr lang="ko-KR" altLang="en-US" sz="9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14일 순증: </a:t>
            </a:r>
            <a:r>
              <a:rPr lang="ko-KR" altLang="en-US" sz="1050" b="1" dirty="0">
                <a:solidFill>
                  <a:srgbClr val="1F4E79"/>
                </a:solidFill>
                <a:latin typeface="대명체 굵게"/>
                <a:ea typeface="대명체 굵게"/>
              </a:rPr>
              <a:t>24,550실</a:t>
            </a:r>
            <a:r>
              <a:rPr lang="ko-KR" altLang="en-US" sz="800" dirty="0">
                <a:solidFill>
                  <a:srgbClr val="555555"/>
                </a:solidFill>
                <a:latin typeface="대명체 보통"/>
                <a:ea typeface="대명체 보통"/>
              </a:rPr>
              <a:t xml:space="preserve">  (전년 동기 23,970실 대비 </a:t>
            </a:r>
            <a:r>
              <a:rPr lang="ko-KR" altLang="en-US" sz="900" b="1" dirty="0">
                <a:solidFill>
                  <a:srgbClr val="008000"/>
                </a:solidFill>
                <a:latin typeface="대명체 굵게"/>
                <a:ea typeface="대명체 굵게"/>
              </a:rPr>
              <a:t>+2.4%</a:t>
            </a:r>
            <a:r>
              <a:rPr lang="ko-KR" altLang="en-US" sz="800" dirty="0">
                <a:solidFill>
                  <a:srgbClr val="555555"/>
                </a:solidFill>
                <a:latin typeface="대명체 보통"/>
                <a:ea typeface="대명체 보통"/>
              </a:rPr>
              <a:t>, +580실)</a:t>
            </a:r>
            <a:endParaRPr lang="ko-KR" sz="760" dirty="0"/>
          </a:p>
          <a:p>
            <a:pPr algn="l">
              <a:lnSpc>
                <a:spcPts val="900"/>
              </a:lnSpc>
            </a:pPr>
            <a:r>
              <a:rPr lang="ko-KR" altLang="en-US" sz="760" dirty="0">
                <a:solidFill>
                  <a:srgbClr val="888888"/>
                </a:solidFill>
                <a:latin typeface="대명체 보통"/>
                <a:ea typeface="대명체 보통"/>
              </a:rPr>
              <a:t xml:space="preserve">  기간: 04.20 ~ 05.03</a:t>
            </a:r>
            <a:endParaRPr lang="ko-KR" sz="760" dirty="0"/>
          </a:p>
          <a:p>
            <a:pPr algn="l">
              <a:lnSpc>
                <a:spcPts val="600"/>
              </a:lnSpc>
            </a:pPr>
            <a:r>
              <a:rPr lang="ko-KR" altLang="en-US" sz="300" dirty="0">
                <a:solidFill>
                  <a:srgbClr val="000000"/>
                </a:solidFill>
                <a:latin typeface="대명체 보통"/>
                <a:ea typeface="대명체 보통"/>
              </a:rPr>
              <a:t/>
            </a:r>
            <a:endParaRPr lang="ko-KR" sz="760" dirty="0"/>
          </a:p>
          <a:p>
            <a:pPr algn="l">
              <a:lnSpc>
                <a:spcPts val="1200"/>
              </a:lnSpc>
            </a:pPr>
            <a:r>
              <a:rPr lang="ko-KR" altLang="en-US" sz="900" dirty="0">
                <a:solidFill>
                  <a:srgbClr val="333333"/>
                </a:solidFill>
                <a:latin typeface="대명체 보통"/>
                <a:ea typeface="대명체 보통"/>
              </a:rPr>
              <a:t xml:space="preserve">7일 일평균: </a:t>
            </a:r>
            <a:r>
              <a:rPr lang="ko-KR" altLang="en-US" sz="1050" b="1" dirty="0">
                <a:solidFill>
                  <a:srgbClr val="1F4E79"/>
                </a:solidFill>
                <a:latin typeface="대명체 굵게"/>
                <a:ea typeface="대명체 굵게"/>
              </a:rPr>
              <a:t>1,782실</a:t>
            </a:r>
            <a:r>
              <a:rPr lang="ko-KR" altLang="en-US" sz="800" dirty="0">
                <a:solidFill>
                  <a:srgbClr val="555555"/>
                </a:solidFill>
                <a:latin typeface="대명체 보통"/>
                <a:ea typeface="대명체 보통"/>
              </a:rPr>
              <a:t xml:space="preserve">  (직전 7일 1,725.1실 대비 +3.3%, </a:t>
            </a:r>
            <a:r>
              <a:rPr lang="ko-KR" altLang="en-US" sz="900" b="1" dirty="0">
                <a:solidFill>
                  <a:srgbClr val="FF8C00"/>
                </a:solidFill>
                <a:latin typeface="대명체 굵게"/>
                <a:ea typeface="대명체 굵게"/>
              </a:rPr>
              <a:t>정체</a:t>
            </a:r>
            <a:r>
              <a:rPr lang="ko-KR" altLang="en-US" sz="800" dirty="0">
                <a:solidFill>
                  <a:srgbClr val="555555"/>
                </a:solidFill>
                <a:latin typeface="대명체 보통"/>
                <a:ea typeface="대명체 보통"/>
              </a:rPr>
              <a:t>)</a:t>
            </a:r>
            <a:endParaRPr lang="ko-KR" sz="760" dirty="0"/>
          </a:p>
        </p:txBody>
      </p:sp>
      <p:sp>
        <p:nvSpPr>
          <p:cNvPr id="0" name=""/>
          <p:cNvSpPr txBox="1"/>
          <p:nvPr/>
        </p:nvSpPr>
        <p:spPr>
          <a:xfrm>
            <a:off x="428368" y="4300000"/>
            <a:ext cx="8800000" cy="120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lnSpc>
                <a:spcPts val="1050"/>
              </a:lnSpc>
            </a:pPr>
            <a:r>
              <a:rPr lang="ko-KR" altLang="en-US" sz="760" b="1" dirty="0">
                <a:solidFill>
                  <a:srgbClr val="333333"/>
                </a:solidFill>
                <a:latin typeface="대명체 굵게"/>
                <a:ea typeface="대명체 굵게"/>
              </a:rPr>
              <a:t xml:space="preserve">• 어제 픽업 상대 TOP 사업장: </a:t>
            </a:r>
            <a:r>
              <a:rPr lang="ko-KR" altLang="en-US" sz="720" dirty="0">
                <a:solidFill>
                  <a:srgbClr val="555555"/>
                </a:solidFill>
                <a:latin typeface="대명체 보통"/>
                <a:ea typeface="대명체 보통"/>
              </a:rPr>
              <a:t>어제 평소 대비 2배 이상 급등 사업장 없음 · 상대 TOP 르네블루 순증 44실 (직전월 일평균 45실 대비 0.98배) — 매칭 기획전 4건 (여기어때 — 협의중).</a:t>
            </a:r>
            <a:endParaRPr lang="ko-KR" sz="760" dirty="0"/>
          </a:p>
          <a:p>
            <a:pPr algn="l">
              <a:lnSpc>
                <a:spcPts val="1050"/>
              </a:lnSpc>
            </a:pPr>
            <a:r>
              <a:rPr lang="ko-KR" altLang="en-US" sz="760" b="1" dirty="0">
                <a:solidFill>
                  <a:srgbClr val="333333"/>
                </a:solidFill>
                <a:latin typeface="대명체 굵게"/>
                <a:ea typeface="대명체 굵게"/>
              </a:rPr>
              <a:t xml:space="preserve">• 위험 사업장 조기 경고: </a:t>
            </a:r>
            <a:r>
              <a:rPr lang="ko-KR" altLang="en-US" sz="720" dirty="0">
                <a:solidFill>
                  <a:srgbClr val="555555"/>
                </a:solidFill>
                <a:latin typeface="대명체 보통"/>
                <a:ea typeface="대명체 보통"/>
              </a:rPr>
              <a:t>캄비발디 달성률 25.2% · FCST 달성 59.4% · 어제 순증 12실 — 즉시 가격/프로모션 점검 권장. 동반 위험: 빌리지비발디.</a:t>
            </a:r>
            <a:endParaRPr lang="ko-KR" sz="760" dirty="0"/>
          </a:p>
          <a:p>
            <a:pPr algn="l">
              <a:lnSpc>
                <a:spcPts val="1050"/>
              </a:lnSpc>
            </a:pPr>
            <a:r>
              <a:rPr lang="ko-KR" altLang="en-US" sz="760" b="1" dirty="0">
                <a:solidFill>
                  <a:srgbClr val="333333"/>
                </a:solidFill>
                <a:latin typeface="대명체 굵게"/>
                <a:ea typeface="대명체 굵게"/>
              </a:rPr>
              <a:t xml:space="preserve">• 기획전 효과 분석: </a:t>
            </a:r>
            <a:r>
              <a:rPr lang="ko-KR" altLang="en-US" sz="720" dirty="0">
                <a:solidFill>
                  <a:srgbClr val="555555"/>
                </a:solidFill>
                <a:latin typeface="대명체 보통"/>
                <a:ea typeface="대명체 보통"/>
              </a:rPr>
              <a:t>이번달/익월 기획전 22건 (전체대상 1건 포함) 진행 중 · 개별타겟 사업장 12곳 어제 평균 순증 49실 vs 미커버 12곳 45실 (+4실 차이) · 효과 중립 — 추가 데이터 누적 필요.</a:t>
            </a:r>
            <a:endParaRPr lang="ko-KR" sz="760" dirty="0"/>
          </a:p>
        </p:txBody>
      </p:sp>
    </p:spTree>
    <p:extLst>
      <p:ext uri="{BB962C8B-B14F-4D97-AF65-F5344CB8AC3E}">
        <p14:creationId xmlns:p14="http://schemas.microsoft.com/office/powerpoint/2010/main" val="9809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2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101837</TotalTime>
  <Words>1682</Words>
  <Application>Microsoft Office PowerPoint</Application>
  <PresentationFormat>A4 용지(210x297mm)</PresentationFormat>
  <Paragraphs>958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대명체 굵게</vt:lpstr>
      <vt:lpstr>대명체 보통</vt:lpstr>
      <vt:lpstr>맑은 고딕</vt:lpstr>
      <vt:lpstr>Arial</vt:lpstr>
      <vt:lpstr>Calibri</vt:lpstr>
      <vt:lpstr>Calibri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Chanmin</cp:lastModifiedBy>
  <cp:revision>6016</cp:revision>
  <cp:lastPrinted>2026-03-26T11:55:32Z</cp:lastPrinted>
  <dcterms:created xsi:type="dcterms:W3CDTF">2017-10-20T04:12:12Z</dcterms:created>
  <dcterms:modified xsi:type="dcterms:W3CDTF">2026-05-12T23:10:06Z</dcterms:modified>
</cp:coreProperties>
</file>