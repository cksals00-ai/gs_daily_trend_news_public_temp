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78965</c:v>
                </c:pt>
                <c:pt idx="1">
                  <c:v>79080</c:v>
                </c:pt>
                <c:pt idx="2">
                  <c:v>47419</c:v>
                </c:pt>
                <c:pt idx="3">
                  <c:v>58125</c:v>
                </c:pt>
                <c:pt idx="4">
                  <c:v>61205</c:v>
                </c:pt>
                <c:pt idx="5">
                  <c:v>73340</c:v>
                </c:pt>
                <c:pt idx="6">
                  <c:v>89370</c:v>
                </c:pt>
                <c:pt idx="7">
                  <c:v>96390</c:v>
                </c:pt>
                <c:pt idx="8">
                  <c:v>68140</c:v>
                </c:pt>
                <c:pt idx="9">
                  <c:v>73950</c:v>
                </c:pt>
                <c:pt idx="10">
                  <c:v>59450</c:v>
                </c:pt>
                <c:pt idx="11">
                  <c:v>74275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84885</c:v>
                </c:pt>
                <c:pt idx="1">
                  <c:v>88679</c:v>
                </c:pt>
                <c:pt idx="2">
                  <c:v>43792</c:v>
                </c:pt>
                <c:pt idx="3">
                  <c:v>64052</c:v>
                </c:pt>
                <c:pt idx="4">
                  <c:v>53553</c:v>
                </c:pt>
                <c:pt idx="5">
                  <c:v>27271</c:v>
                </c:pt>
                <c:pt idx="6">
                  <c:v>12448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전년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73231</c:v>
                </c:pt>
                <c:pt idx="1">
                  <c:v>68437</c:v>
                </c:pt>
                <c:pt idx="2">
                  <c:v>37565</c:v>
                </c:pt>
                <c:pt idx="3">
                  <c:v>46684</c:v>
                </c:pt>
                <c:pt idx="4">
                  <c:v>38093</c:v>
                </c:pt>
                <c:pt idx="5">
                  <c:v>26374</c:v>
                </c:pt>
                <c:pt idx="6">
                  <c:v>10498</c:v>
                </c:pt>
                <c:pt idx="7">
                  <c:v>90907</c:v>
                </c:pt>
                <c:pt idx="8">
                  <c:v>57559</c:v>
                </c:pt>
                <c:pt idx="9">
                  <c:v>58799</c:v>
                </c:pt>
                <c:pt idx="10">
                  <c:v>58160</c:v>
                </c:pt>
                <c:pt idx="11">
                  <c:v>63375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8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실적(2026)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210.0</c:v>
                </c:pt>
                <c:pt idx="1">
                  <c:v>214.6</c:v>
                </c:pt>
                <c:pt idx="2">
                  <c:v>98.4</c:v>
                </c:pt>
                <c:pt idx="3">
                  <c:v>141.1</c:v>
                </c:pt>
                <c:pt idx="4">
                  <c:v>137.8</c:v>
                </c:pt>
                <c:pt idx="5">
                  <c:v>64.1</c:v>
                </c:pt>
                <c:pt idx="6">
                  <c:v>29.8</c:v>
                </c:pt>
                <c:pt idx="7">
                  <c:v>0.4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전년(2025)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182.4</c:v>
                </c:pt>
                <c:pt idx="1">
                  <c:v>157.4</c:v>
                </c:pt>
                <c:pt idx="2">
                  <c:v>87.9</c:v>
                </c:pt>
                <c:pt idx="3">
                  <c:v>101.4</c:v>
                </c:pt>
                <c:pt idx="4">
                  <c:v>120.8</c:v>
                </c:pt>
                <c:pt idx="5">
                  <c:v>139.3</c:v>
                </c:pt>
                <c:pt idx="6">
                  <c:v>213.7</c:v>
                </c:pt>
                <c:pt idx="7">
                  <c:v>249.7</c:v>
                </c:pt>
                <c:pt idx="8">
                  <c:v>129.0</c:v>
                </c:pt>
                <c:pt idx="9">
                  <c:v>158.6</c:v>
                </c:pt>
                <c:pt idx="10">
                  <c:v>137.9</c:v>
                </c:pt>
                <c:pt idx="11">
                  <c:v>144.0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8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OTA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47635</c:v>
                </c:pt>
                <c:pt idx="1">
                  <c:v>48071</c:v>
                </c:pt>
                <c:pt idx="2">
                  <c:v>20172</c:v>
                </c:pt>
                <c:pt idx="3">
                  <c:v>32942</c:v>
                </c:pt>
                <c:pt idx="4">
                  <c:v>29288</c:v>
                </c:pt>
                <c:pt idx="5">
                  <c:v>13316</c:v>
                </c:pt>
                <c:pt idx="6">
                  <c:v>6130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G-OTA</c:v>
                </c:pt>
              </c:strCache>
            </c:strRef>
          </c:tx>
          <c:spPr>
            <a:solidFill>
              <a:srgbClr val="228B22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32270</c:v>
                </c:pt>
                <c:pt idx="1">
                  <c:v>34934</c:v>
                </c:pt>
                <c:pt idx="2">
                  <c:v>18293</c:v>
                </c:pt>
                <c:pt idx="3">
                  <c:v>24602</c:v>
                </c:pt>
                <c:pt idx="4">
                  <c:v>19848</c:v>
                </c:pt>
                <c:pt idx="5">
                  <c:v>12505</c:v>
                </c:pt>
                <c:pt idx="6">
                  <c:v>5952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Inbound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4998</c:v>
                </c:pt>
                <c:pt idx="1">
                  <c:v>5689</c:v>
                </c:pt>
                <c:pt idx="2">
                  <c:v>5330</c:v>
                </c:pt>
                <c:pt idx="3">
                  <c:v>6521</c:v>
                </c:pt>
                <c:pt idx="4">
                  <c:v>4463</c:v>
                </c:pt>
                <c:pt idx="5">
                  <c:v>1472</c:v>
                </c:pt>
                <c:pt idx="6">
                  <c:v>366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Sheet1!$A$2:$A$11</c:f>
              <c:strCache>
                <c:ptCount val="10"/>
                <c:pt idx="0">
                  <c:v>아고다</c:v>
                </c:pt>
                <c:pt idx="1">
                  <c:v>야놀자</c:v>
                </c:pt>
                <c:pt idx="2">
                  <c:v>여기어때</c:v>
                </c:pt>
                <c:pt idx="3">
                  <c:v>트립닷컴</c:v>
                </c:pt>
                <c:pt idx="4">
                  <c:v>Inbound</c:v>
                </c:pt>
                <c:pt idx="5">
                  <c:v>스마트인피니</c:v>
                </c:pt>
                <c:pt idx="6">
                  <c:v>트립비토즈</c:v>
                </c:pt>
                <c:pt idx="7">
                  <c:v>네이버</c:v>
                </c:pt>
                <c:pt idx="8">
                  <c:v>익스피디아</c:v>
                </c:pt>
                <c:pt idx="9">
                  <c:v>타이드스퀘어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77626</c:v>
                </c:pt>
                <c:pt idx="1">
                  <c:v>56405</c:v>
                </c:pt>
                <c:pt idx="2">
                  <c:v>45009</c:v>
                </c:pt>
                <c:pt idx="3">
                  <c:v>31960</c:v>
                </c:pt>
                <c:pt idx="4">
                  <c:v>28839</c:v>
                </c:pt>
                <c:pt idx="5">
                  <c:v>20915</c:v>
                </c:pt>
                <c:pt idx="6">
                  <c:v>15612</c:v>
                </c:pt>
                <c:pt idx="7">
                  <c:v>15102</c:v>
                </c:pt>
                <c:pt idx="8">
                  <c:v>13184</c:v>
                </c:pt>
                <c:pt idx="9">
                  <c:v>9844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Sheet1!$A$2:$A$11</c:f>
              <c:strCache>
                <c:ptCount val="10"/>
                <c:pt idx="0">
                  <c:v>아고다</c:v>
                </c:pt>
                <c:pt idx="1">
                  <c:v>야놀자</c:v>
                </c:pt>
                <c:pt idx="2">
                  <c:v>여기어때</c:v>
                </c:pt>
                <c:pt idx="3">
                  <c:v>트립닷컴</c:v>
                </c:pt>
                <c:pt idx="4">
                  <c:v>Inbound</c:v>
                </c:pt>
                <c:pt idx="5">
                  <c:v>스마트인피니</c:v>
                </c:pt>
                <c:pt idx="6">
                  <c:v>트립비토즈</c:v>
                </c:pt>
                <c:pt idx="7">
                  <c:v>네이버</c:v>
                </c:pt>
                <c:pt idx="8">
                  <c:v>익스피디아</c:v>
                </c:pt>
                <c:pt idx="9">
                  <c:v>타이드스퀘어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126680</c:v>
                </c:pt>
                <c:pt idx="1">
                  <c:v>131522</c:v>
                </c:pt>
                <c:pt idx="2">
                  <c:v>114769</c:v>
                </c:pt>
                <c:pt idx="3">
                  <c:v>47102</c:v>
                </c:pt>
                <c:pt idx="4">
                  <c:v>57737</c:v>
                </c:pt>
                <c:pt idx="5">
                  <c:v>20186</c:v>
                </c:pt>
                <c:pt idx="6">
                  <c:v>46221</c:v>
                </c:pt>
                <c:pt idx="7">
                  <c:v>33042</c:v>
                </c:pt>
                <c:pt idx="8">
                  <c:v>42969</c:v>
                </c:pt>
                <c:pt idx="9">
                  <c:v>17036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8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기타</c:v>
                </c:pt>
                <c:pt idx="1">
                  <c:v>룸온니/프로모션</c:v>
                </c:pt>
                <c:pt idx="2">
                  <c:v>시즌패키지</c:v>
                </c:pt>
                <c:pt idx="3">
                  <c:v>세일/기획전</c:v>
                </c:pt>
                <c:pt idx="4">
                  <c:v>연박/투나잇</c:v>
                </c:pt>
                <c:pt idx="5">
                  <c:v>조식패키지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56824</c:v>
                </c:pt>
                <c:pt idx="1">
                  <c:v>52568</c:v>
                </c:pt>
                <c:pt idx="2">
                  <c:v>31093</c:v>
                </c:pt>
                <c:pt idx="3">
                  <c:v>19390</c:v>
                </c:pt>
                <c:pt idx="4">
                  <c:v>17588</c:v>
                </c:pt>
                <c:pt idx="5">
                  <c:v>15734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17975</c:v>
                </c:pt>
                <c:pt idx="1">
                  <c:v>17283</c:v>
                </c:pt>
                <c:pt idx="2">
                  <c:v>4598</c:v>
                </c:pt>
                <c:pt idx="3">
                  <c:v>6948</c:v>
                </c:pt>
                <c:pt idx="4">
                  <c:v>4828</c:v>
                </c:pt>
                <c:pt idx="5">
                  <c:v>2828</c:v>
                </c:pt>
                <c:pt idx="6">
                  <c:v>1299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14312</c:v>
                </c:pt>
                <c:pt idx="1">
                  <c:v>14901</c:v>
                </c:pt>
                <c:pt idx="2">
                  <c:v>5655</c:v>
                </c:pt>
                <c:pt idx="3">
                  <c:v>6791</c:v>
                </c:pt>
                <c:pt idx="4">
                  <c:v>6701</c:v>
                </c:pt>
                <c:pt idx="5">
                  <c:v>10098</c:v>
                </c:pt>
                <c:pt idx="6">
                  <c:v>13137</c:v>
                </c:pt>
                <c:pt idx="7">
                  <c:v>16884</c:v>
                </c:pt>
                <c:pt idx="8">
                  <c:v>4570</c:v>
                </c:pt>
                <c:pt idx="9">
                  <c:v>5970</c:v>
                </c:pt>
                <c:pt idx="10">
                  <c:v>3844</c:v>
                </c:pt>
                <c:pt idx="11">
                  <c:v>10937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2658</c:v>
                </c:pt>
                <c:pt idx="1">
                  <c:v>3109</c:v>
                </c:pt>
                <c:pt idx="2">
                  <c:v>400</c:v>
                </c:pt>
                <c:pt idx="3">
                  <c:v>464</c:v>
                </c:pt>
                <c:pt idx="4">
                  <c:v>1068</c:v>
                </c:pt>
                <c:pt idx="5">
                  <c:v>154</c:v>
                </c:pt>
                <c:pt idx="6">
                  <c:v>92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4059</c:v>
                </c:pt>
                <c:pt idx="1">
                  <c:v>3574</c:v>
                </c:pt>
                <c:pt idx="2">
                  <c:v>817</c:v>
                </c:pt>
                <c:pt idx="3">
                  <c:v>778</c:v>
                </c:pt>
                <c:pt idx="4">
                  <c:v>1776</c:v>
                </c:pt>
                <c:pt idx="5">
                  <c:v>2374</c:v>
                </c:pt>
                <c:pt idx="6">
                  <c:v>3604</c:v>
                </c:pt>
                <c:pt idx="7">
                  <c:v>3752</c:v>
                </c:pt>
                <c:pt idx="8">
                  <c:v>933</c:v>
                </c:pt>
                <c:pt idx="9">
                  <c:v>1289</c:v>
                </c:pt>
                <c:pt idx="10">
                  <c:v>1206</c:v>
                </c:pt>
                <c:pt idx="11">
                  <c:v>2745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1894</c:v>
                </c:pt>
                <c:pt idx="1">
                  <c:v>1505</c:v>
                </c:pt>
                <c:pt idx="2">
                  <c:v>915</c:v>
                </c:pt>
                <c:pt idx="3">
                  <c:v>1250</c:v>
                </c:pt>
                <c:pt idx="4">
                  <c:v>944</c:v>
                </c:pt>
                <c:pt idx="5">
                  <c:v>333</c:v>
                </c:pt>
                <c:pt idx="6">
                  <c:v>146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2291</c:v>
                </c:pt>
                <c:pt idx="1">
                  <c:v>1795</c:v>
                </c:pt>
                <c:pt idx="2">
                  <c:v>784</c:v>
                </c:pt>
                <c:pt idx="3">
                  <c:v>1021</c:v>
                </c:pt>
                <c:pt idx="4">
                  <c:v>1387</c:v>
                </c:pt>
                <c:pt idx="5">
                  <c:v>1347</c:v>
                </c:pt>
                <c:pt idx="6">
                  <c:v>1890</c:v>
                </c:pt>
                <c:pt idx="7">
                  <c:v>2542</c:v>
                </c:pt>
                <c:pt idx="8">
                  <c:v>1221</c:v>
                </c:pt>
                <c:pt idx="9">
                  <c:v>1113</c:v>
                </c:pt>
                <c:pt idx="10">
                  <c:v>1248</c:v>
                </c:pt>
                <c:pt idx="11">
                  <c:v>1303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4101</c:v>
                </c:pt>
                <c:pt idx="1">
                  <c:v>4351</c:v>
                </c:pt>
                <c:pt idx="2">
                  <c:v>657</c:v>
                </c:pt>
                <c:pt idx="3">
                  <c:v>1018</c:v>
                </c:pt>
                <c:pt idx="4">
                  <c:v>1306</c:v>
                </c:pt>
                <c:pt idx="5">
                  <c:v>655</c:v>
                </c:pt>
                <c:pt idx="6">
                  <c:v>309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3436</c:v>
                </c:pt>
                <c:pt idx="1">
                  <c:v>3392</c:v>
                </c:pt>
                <c:pt idx="2">
                  <c:v>876</c:v>
                </c:pt>
                <c:pt idx="3">
                  <c:v>1032</c:v>
                </c:pt>
                <c:pt idx="4">
                  <c:v>1586</c:v>
                </c:pt>
                <c:pt idx="5">
                  <c:v>1954</c:v>
                </c:pt>
                <c:pt idx="6">
                  <c:v>3465</c:v>
                </c:pt>
                <c:pt idx="7">
                  <c:v>3980</c:v>
                </c:pt>
                <c:pt idx="8">
                  <c:v>1185</c:v>
                </c:pt>
                <c:pt idx="9">
                  <c:v>1719</c:v>
                </c:pt>
                <c:pt idx="10">
                  <c:v>1182</c:v>
                </c:pt>
                <c:pt idx="11">
                  <c:v>2839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1518</c:v>
                </c:pt>
                <c:pt idx="1">
                  <c:v>1291</c:v>
                </c:pt>
                <c:pt idx="2">
                  <c:v>390</c:v>
                </c:pt>
                <c:pt idx="3">
                  <c:v>605</c:v>
                </c:pt>
                <c:pt idx="4">
                  <c:v>668</c:v>
                </c:pt>
                <c:pt idx="5">
                  <c:v>388</c:v>
                </c:pt>
                <c:pt idx="6">
                  <c:v>176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1502</c:v>
                </c:pt>
                <c:pt idx="1">
                  <c:v>1055</c:v>
                </c:pt>
                <c:pt idx="2">
                  <c:v>521</c:v>
                </c:pt>
                <c:pt idx="3">
                  <c:v>864</c:v>
                </c:pt>
                <c:pt idx="4">
                  <c:v>1024</c:v>
                </c:pt>
                <c:pt idx="5">
                  <c:v>1168</c:v>
                </c:pt>
                <c:pt idx="6">
                  <c:v>1411</c:v>
                </c:pt>
                <c:pt idx="7">
                  <c:v>1816</c:v>
                </c:pt>
                <c:pt idx="8">
                  <c:v>772</c:v>
                </c:pt>
                <c:pt idx="9">
                  <c:v>830</c:v>
                </c:pt>
                <c:pt idx="10">
                  <c:v>732</c:v>
                </c:pt>
                <c:pt idx="11">
                  <c:v>1196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1349</c:v>
                </c:pt>
                <c:pt idx="1">
                  <c:v>1079</c:v>
                </c:pt>
                <c:pt idx="2">
                  <c:v>630</c:v>
                </c:pt>
                <c:pt idx="3">
                  <c:v>974</c:v>
                </c:pt>
                <c:pt idx="4">
                  <c:v>885</c:v>
                </c:pt>
                <c:pt idx="5">
                  <c:v>285</c:v>
                </c:pt>
                <c:pt idx="6">
                  <c:v>64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1341</c:v>
                </c:pt>
                <c:pt idx="1">
                  <c:v>974</c:v>
                </c:pt>
                <c:pt idx="2">
                  <c:v>741</c:v>
                </c:pt>
                <c:pt idx="3">
                  <c:v>1016</c:v>
                </c:pt>
                <c:pt idx="4">
                  <c:v>1037</c:v>
                </c:pt>
                <c:pt idx="5">
                  <c:v>967</c:v>
                </c:pt>
                <c:pt idx="6">
                  <c:v>1110</c:v>
                </c:pt>
                <c:pt idx="7">
                  <c:v>1039</c:v>
                </c:pt>
                <c:pt idx="8">
                  <c:v>798</c:v>
                </c:pt>
                <c:pt idx="9">
                  <c:v>1051</c:v>
                </c:pt>
                <c:pt idx="10">
                  <c:v>1126</c:v>
                </c:pt>
                <c:pt idx="11">
                  <c:v>701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11130</c:v>
                </c:pt>
                <c:pt idx="1">
                  <c:v>11294</c:v>
                </c:pt>
                <c:pt idx="2">
                  <c:v>4904</c:v>
                </c:pt>
                <c:pt idx="3">
                  <c:v>7161</c:v>
                </c:pt>
                <c:pt idx="4">
                  <c:v>6894</c:v>
                </c:pt>
                <c:pt idx="5">
                  <c:v>3697</c:v>
                </c:pt>
                <c:pt idx="6">
                  <c:v>1839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10599</c:v>
                </c:pt>
                <c:pt idx="1">
                  <c:v>9283</c:v>
                </c:pt>
                <c:pt idx="2">
                  <c:v>4626</c:v>
                </c:pt>
                <c:pt idx="3">
                  <c:v>5734</c:v>
                </c:pt>
                <c:pt idx="4">
                  <c:v>5954</c:v>
                </c:pt>
                <c:pt idx="5">
                  <c:v>7463</c:v>
                </c:pt>
                <c:pt idx="6">
                  <c:v>9376</c:v>
                </c:pt>
                <c:pt idx="7">
                  <c:v>11549</c:v>
                </c:pt>
                <c:pt idx="8">
                  <c:v>7003</c:v>
                </c:pt>
                <c:pt idx="9">
                  <c:v>7950</c:v>
                </c:pt>
                <c:pt idx="10">
                  <c:v>9784</c:v>
                </c:pt>
                <c:pt idx="11">
                  <c:v>8812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3567</c:v>
                </c:pt>
                <c:pt idx="1">
                  <c:v>3972</c:v>
                </c:pt>
                <c:pt idx="2">
                  <c:v>1893</c:v>
                </c:pt>
                <c:pt idx="3">
                  <c:v>3183</c:v>
                </c:pt>
                <c:pt idx="4">
                  <c:v>2430</c:v>
                </c:pt>
                <c:pt idx="5">
                  <c:v>1524</c:v>
                </c:pt>
                <c:pt idx="6">
                  <c:v>1107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2817</c:v>
                </c:pt>
                <c:pt idx="1">
                  <c:v>3094</c:v>
                </c:pt>
                <c:pt idx="2">
                  <c:v>2165</c:v>
                </c:pt>
                <c:pt idx="3">
                  <c:v>3389</c:v>
                </c:pt>
                <c:pt idx="4">
                  <c:v>3436</c:v>
                </c:pt>
                <c:pt idx="5">
                  <c:v>4000</c:v>
                </c:pt>
                <c:pt idx="6">
                  <c:v>4630</c:v>
                </c:pt>
                <c:pt idx="7">
                  <c:v>3684</c:v>
                </c:pt>
                <c:pt idx="8">
                  <c:v>2988</c:v>
                </c:pt>
                <c:pt idx="9">
                  <c:v>2305</c:v>
                </c:pt>
                <c:pt idx="10">
                  <c:v>2489</c:v>
                </c:pt>
                <c:pt idx="11">
                  <c:v>2229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6494</c:v>
                </c:pt>
                <c:pt idx="1">
                  <c:v>7145</c:v>
                </c:pt>
                <c:pt idx="2">
                  <c:v>3619</c:v>
                </c:pt>
                <c:pt idx="3">
                  <c:v>6099</c:v>
                </c:pt>
                <c:pt idx="4">
                  <c:v>4724</c:v>
                </c:pt>
                <c:pt idx="5">
                  <c:v>2704</c:v>
                </c:pt>
                <c:pt idx="6">
                  <c:v>1925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5095</c:v>
                </c:pt>
                <c:pt idx="1">
                  <c:v>5893</c:v>
                </c:pt>
                <c:pt idx="2">
                  <c:v>3395</c:v>
                </c:pt>
                <c:pt idx="3">
                  <c:v>5399</c:v>
                </c:pt>
                <c:pt idx="4">
                  <c:v>6267</c:v>
                </c:pt>
                <c:pt idx="5">
                  <c:v>7512</c:v>
                </c:pt>
                <c:pt idx="6">
                  <c:v>7473</c:v>
                </c:pt>
                <c:pt idx="7">
                  <c:v>5724</c:v>
                </c:pt>
                <c:pt idx="8">
                  <c:v>7167</c:v>
                </c:pt>
                <c:pt idx="9">
                  <c:v>4478</c:v>
                </c:pt>
                <c:pt idx="10">
                  <c:v>5118</c:v>
                </c:pt>
                <c:pt idx="11">
                  <c:v>3982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4971</c:v>
                </c:pt>
                <c:pt idx="1">
                  <c:v>7426</c:v>
                </c:pt>
                <c:pt idx="2">
                  <c:v>4179</c:v>
                </c:pt>
                <c:pt idx="3">
                  <c:v>5330</c:v>
                </c:pt>
                <c:pt idx="4">
                  <c:v>5312</c:v>
                </c:pt>
                <c:pt idx="5">
                  <c:v>1907</c:v>
                </c:pt>
                <c:pt idx="6">
                  <c:v>571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5760</c:v>
                </c:pt>
                <c:pt idx="1">
                  <c:v>5508</c:v>
                </c:pt>
                <c:pt idx="2">
                  <c:v>3444</c:v>
                </c:pt>
                <c:pt idx="3">
                  <c:v>3954</c:v>
                </c:pt>
                <c:pt idx="4">
                  <c:v>3992</c:v>
                </c:pt>
                <c:pt idx="5">
                  <c:v>5588</c:v>
                </c:pt>
                <c:pt idx="6">
                  <c:v>7234</c:v>
                </c:pt>
                <c:pt idx="7">
                  <c:v>9359</c:v>
                </c:pt>
                <c:pt idx="8">
                  <c:v>4800</c:v>
                </c:pt>
                <c:pt idx="9">
                  <c:v>6627</c:v>
                </c:pt>
                <c:pt idx="10">
                  <c:v>5895</c:v>
                </c:pt>
                <c:pt idx="11">
                  <c:v>1933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3122</c:v>
                </c:pt>
                <c:pt idx="1">
                  <c:v>3058</c:v>
                </c:pt>
                <c:pt idx="2">
                  <c:v>1455</c:v>
                </c:pt>
                <c:pt idx="3">
                  <c:v>2736</c:v>
                </c:pt>
                <c:pt idx="4">
                  <c:v>2010</c:v>
                </c:pt>
                <c:pt idx="5">
                  <c:v>1159</c:v>
                </c:pt>
                <c:pt idx="6">
                  <c:v>440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164</c:v>
                </c:pt>
                <c:pt idx="9">
                  <c:v>2188</c:v>
                </c:pt>
                <c:pt idx="10">
                  <c:v>2997</c:v>
                </c:pt>
                <c:pt idx="11">
                  <c:v>1973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4249</c:v>
                </c:pt>
                <c:pt idx="1">
                  <c:v>3841</c:v>
                </c:pt>
                <c:pt idx="2">
                  <c:v>1742</c:v>
                </c:pt>
                <c:pt idx="3">
                  <c:v>1754</c:v>
                </c:pt>
                <c:pt idx="4">
                  <c:v>1557</c:v>
                </c:pt>
                <c:pt idx="5">
                  <c:v>388</c:v>
                </c:pt>
                <c:pt idx="6">
                  <c:v>56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3851</c:v>
                </c:pt>
                <c:pt idx="1">
                  <c:v>3196</c:v>
                </c:pt>
                <c:pt idx="2">
                  <c:v>1242</c:v>
                </c:pt>
                <c:pt idx="3">
                  <c:v>867</c:v>
                </c:pt>
                <c:pt idx="4">
                  <c:v>1439</c:v>
                </c:pt>
                <c:pt idx="5">
                  <c:v>1732</c:v>
                </c:pt>
                <c:pt idx="6">
                  <c:v>2141</c:v>
                </c:pt>
                <c:pt idx="7">
                  <c:v>2434</c:v>
                </c:pt>
                <c:pt idx="8">
                  <c:v>1824</c:v>
                </c:pt>
                <c:pt idx="9">
                  <c:v>2552</c:v>
                </c:pt>
                <c:pt idx="10">
                  <c:v>3815</c:v>
                </c:pt>
                <c:pt idx="11">
                  <c:v>2877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6407</c:v>
                </c:pt>
                <c:pt idx="1">
                  <c:v>5685</c:v>
                </c:pt>
                <c:pt idx="2">
                  <c:v>1673</c:v>
                </c:pt>
                <c:pt idx="3">
                  <c:v>2439</c:v>
                </c:pt>
                <c:pt idx="4">
                  <c:v>2573</c:v>
                </c:pt>
                <c:pt idx="5">
                  <c:v>1335</c:v>
                </c:pt>
                <c:pt idx="6">
                  <c:v>610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5798</c:v>
                </c:pt>
                <c:pt idx="1">
                  <c:v>5395</c:v>
                </c:pt>
                <c:pt idx="2">
                  <c:v>2199</c:v>
                </c:pt>
                <c:pt idx="3">
                  <c:v>2653</c:v>
                </c:pt>
                <c:pt idx="4">
                  <c:v>2533</c:v>
                </c:pt>
                <c:pt idx="5">
                  <c:v>3323</c:v>
                </c:pt>
                <c:pt idx="6">
                  <c:v>4727</c:v>
                </c:pt>
                <c:pt idx="7">
                  <c:v>5485</c:v>
                </c:pt>
                <c:pt idx="8">
                  <c:v>2295</c:v>
                </c:pt>
                <c:pt idx="9">
                  <c:v>3158</c:v>
                </c:pt>
                <c:pt idx="10">
                  <c:v>2335</c:v>
                </c:pt>
                <c:pt idx="11">
                  <c:v>3602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3097</c:v>
                </c:pt>
                <c:pt idx="1">
                  <c:v>4096</c:v>
                </c:pt>
                <c:pt idx="2">
                  <c:v>1698</c:v>
                </c:pt>
                <c:pt idx="3">
                  <c:v>2857</c:v>
                </c:pt>
                <c:pt idx="4">
                  <c:v>2404</c:v>
                </c:pt>
                <c:pt idx="5">
                  <c:v>1371</c:v>
                </c:pt>
                <c:pt idx="6">
                  <c:v>535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3898</c:v>
                </c:pt>
                <c:pt idx="1">
                  <c:v>3454</c:v>
                </c:pt>
                <c:pt idx="2">
                  <c:v>2447</c:v>
                </c:pt>
                <c:pt idx="3">
                  <c:v>3134</c:v>
                </c:pt>
                <c:pt idx="4">
                  <c:v>2955</c:v>
                </c:pt>
                <c:pt idx="5">
                  <c:v>3341</c:v>
                </c:pt>
                <c:pt idx="6">
                  <c:v>4323</c:v>
                </c:pt>
                <c:pt idx="7">
                  <c:v>4551</c:v>
                </c:pt>
                <c:pt idx="8">
                  <c:v>2544</c:v>
                </c:pt>
                <c:pt idx="9">
                  <c:v>2745</c:v>
                </c:pt>
                <c:pt idx="10">
                  <c:v>3012</c:v>
                </c:pt>
                <c:pt idx="11">
                  <c:v>1818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1613</c:v>
                </c:pt>
                <c:pt idx="1">
                  <c:v>1716</c:v>
                </c:pt>
                <c:pt idx="2">
                  <c:v>1635</c:v>
                </c:pt>
                <c:pt idx="3">
                  <c:v>2915</c:v>
                </c:pt>
                <c:pt idx="4">
                  <c:v>2031</c:v>
                </c:pt>
                <c:pt idx="5">
                  <c:v>650</c:v>
                </c:pt>
                <c:pt idx="6">
                  <c:v>402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2111</c:v>
                </c:pt>
                <c:pt idx="1">
                  <c:v>2244</c:v>
                </c:pt>
                <c:pt idx="2">
                  <c:v>2054</c:v>
                </c:pt>
                <c:pt idx="3">
                  <c:v>2460</c:v>
                </c:pt>
                <c:pt idx="4">
                  <c:v>2417</c:v>
                </c:pt>
                <c:pt idx="5">
                  <c:v>1931</c:v>
                </c:pt>
                <c:pt idx="6">
                  <c:v>1907</c:v>
                </c:pt>
                <c:pt idx="7">
                  <c:v>2458</c:v>
                </c:pt>
                <c:pt idx="8">
                  <c:v>1717</c:v>
                </c:pt>
                <c:pt idx="9">
                  <c:v>1716</c:v>
                </c:pt>
                <c:pt idx="10">
                  <c:v>2317</c:v>
                </c:pt>
                <c:pt idx="11">
                  <c:v>1342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3626</c:v>
                </c:pt>
                <c:pt idx="1">
                  <c:v>4495</c:v>
                </c:pt>
                <c:pt idx="2">
                  <c:v>2017</c:v>
                </c:pt>
                <c:pt idx="3">
                  <c:v>3120</c:v>
                </c:pt>
                <c:pt idx="4">
                  <c:v>2997</c:v>
                </c:pt>
                <c:pt idx="5">
                  <c:v>1098</c:v>
                </c:pt>
                <c:pt idx="6">
                  <c:v>572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4197</c:v>
                </c:pt>
                <c:pt idx="1">
                  <c:v>4295</c:v>
                </c:pt>
                <c:pt idx="2">
                  <c:v>2339</c:v>
                </c:pt>
                <c:pt idx="3">
                  <c:v>2858</c:v>
                </c:pt>
                <c:pt idx="4">
                  <c:v>2871</c:v>
                </c:pt>
                <c:pt idx="5">
                  <c:v>3954</c:v>
                </c:pt>
                <c:pt idx="6">
                  <c:v>5020</c:v>
                </c:pt>
                <c:pt idx="7">
                  <c:v>4988</c:v>
                </c:pt>
                <c:pt idx="8">
                  <c:v>2577</c:v>
                </c:pt>
                <c:pt idx="9">
                  <c:v>2479</c:v>
                </c:pt>
                <c:pt idx="10">
                  <c:v>2326</c:v>
                </c:pt>
                <c:pt idx="11">
                  <c:v>2440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5316</c:v>
                </c:pt>
                <c:pt idx="1">
                  <c:v>6552</c:v>
                </c:pt>
                <c:pt idx="2">
                  <c:v>2646</c:v>
                </c:pt>
                <c:pt idx="3">
                  <c:v>5644</c:v>
                </c:pt>
                <c:pt idx="4">
                  <c:v>3696</c:v>
                </c:pt>
                <c:pt idx="5">
                  <c:v>1844</c:v>
                </c:pt>
                <c:pt idx="6">
                  <c:v>771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5899</c:v>
                </c:pt>
                <c:pt idx="1">
                  <c:v>5940</c:v>
                </c:pt>
                <c:pt idx="2">
                  <c:v>3441</c:v>
                </c:pt>
                <c:pt idx="3">
                  <c:v>4291</c:v>
                </c:pt>
                <c:pt idx="4">
                  <c:v>4346</c:v>
                </c:pt>
                <c:pt idx="5">
                  <c:v>5499</c:v>
                </c:pt>
                <c:pt idx="6">
                  <c:v>6994</c:v>
                </c:pt>
                <c:pt idx="7">
                  <c:v>6614</c:v>
                </c:pt>
                <c:pt idx="8">
                  <c:v>4236</c:v>
                </c:pt>
                <c:pt idx="9">
                  <c:v>3717</c:v>
                </c:pt>
                <c:pt idx="10">
                  <c:v>3681</c:v>
                </c:pt>
                <c:pt idx="11">
                  <c:v>3255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2012</c:v>
                </c:pt>
                <c:pt idx="1">
                  <c:v>2116</c:v>
                </c:pt>
                <c:pt idx="2">
                  <c:v>1534</c:v>
                </c:pt>
                <c:pt idx="3">
                  <c:v>2414</c:v>
                </c:pt>
                <c:pt idx="4">
                  <c:v>2246</c:v>
                </c:pt>
                <c:pt idx="5">
                  <c:v>1688</c:v>
                </c:pt>
                <c:pt idx="6">
                  <c:v>882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1526</c:v>
                </c:pt>
                <c:pt idx="1">
                  <c:v>1485</c:v>
                </c:pt>
                <c:pt idx="2">
                  <c:v>1251</c:v>
                </c:pt>
                <c:pt idx="3">
                  <c:v>2321</c:v>
                </c:pt>
                <c:pt idx="4">
                  <c:v>2048</c:v>
                </c:pt>
                <c:pt idx="5">
                  <c:v>2537</c:v>
                </c:pt>
                <c:pt idx="6">
                  <c:v>4176</c:v>
                </c:pt>
                <c:pt idx="7">
                  <c:v>4509</c:v>
                </c:pt>
                <c:pt idx="8">
                  <c:v>2768</c:v>
                </c:pt>
                <c:pt idx="9">
                  <c:v>2276</c:v>
                </c:pt>
                <c:pt idx="10">
                  <c:v>2375</c:v>
                </c:pt>
                <c:pt idx="11">
                  <c:v>1556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1447</c:v>
                </c:pt>
                <c:pt idx="1">
                  <c:v>1273</c:v>
                </c:pt>
                <c:pt idx="2">
                  <c:v>1086</c:v>
                </c:pt>
                <c:pt idx="3">
                  <c:v>1842</c:v>
                </c:pt>
                <c:pt idx="4">
                  <c:v>1296</c:v>
                </c:pt>
                <c:pt idx="5">
                  <c:v>858</c:v>
                </c:pt>
                <c:pt idx="6">
                  <c:v>239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1402</c:v>
                </c:pt>
                <c:pt idx="1">
                  <c:v>1440</c:v>
                </c:pt>
                <c:pt idx="2">
                  <c:v>967</c:v>
                </c:pt>
                <c:pt idx="3">
                  <c:v>1760</c:v>
                </c:pt>
                <c:pt idx="4">
                  <c:v>1311</c:v>
                </c:pt>
                <c:pt idx="5">
                  <c:v>1688</c:v>
                </c:pt>
                <c:pt idx="6">
                  <c:v>1874</c:v>
                </c:pt>
                <c:pt idx="7">
                  <c:v>1673</c:v>
                </c:pt>
                <c:pt idx="8">
                  <c:v>1210</c:v>
                </c:pt>
                <c:pt idx="9">
                  <c:v>1957</c:v>
                </c:pt>
                <c:pt idx="10">
                  <c:v>2372</c:v>
                </c:pt>
                <c:pt idx="11">
                  <c:v>1160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7246</c:v>
                </c:pt>
                <c:pt idx="1">
                  <c:v>6436</c:v>
                </c:pt>
                <c:pt idx="2">
                  <c:v>9900</c:v>
                </c:pt>
                <c:pt idx="3">
                  <c:v>11963</c:v>
                </c:pt>
                <c:pt idx="4">
                  <c:v>7008</c:v>
                </c:pt>
                <c:pt idx="5">
                  <c:v>2626</c:v>
                </c:pt>
                <c:pt idx="6">
                  <c:v>527</c:v>
                </c:pt>
                <c:pt idx="7">
                  <c:v>160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5579</c:v>
                </c:pt>
                <c:pt idx="1">
                  <c:v>10689</c:v>
                </c:pt>
                <c:pt idx="2">
                  <c:v>9248</c:v>
                </c:pt>
                <c:pt idx="3">
                  <c:v>11735</c:v>
                </c:pt>
                <c:pt idx="4">
                  <c:v>9768</c:v>
                </c:pt>
                <c:pt idx="5">
                  <c:v>11857</c:v>
                </c:pt>
                <c:pt idx="6">
                  <c:v>12257</c:v>
                </c:pt>
                <c:pt idx="7">
                  <c:v>10206</c:v>
                </c:pt>
                <c:pt idx="8">
                  <c:v>12089</c:v>
                </c:pt>
                <c:pt idx="9">
                  <c:v>13082</c:v>
                </c:pt>
                <c:pt idx="10">
                  <c:v>12010</c:v>
                </c:pt>
                <c:pt idx="11">
                  <c:v>9265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2065</c:v>
                </c:pt>
                <c:pt idx="1">
                  <c:v>2010</c:v>
                </c:pt>
                <c:pt idx="2">
                  <c:v>2541</c:v>
                </c:pt>
                <c:pt idx="3">
                  <c:v>3265</c:v>
                </c:pt>
                <c:pt idx="4">
                  <c:v>3032</c:v>
                </c:pt>
                <c:pt idx="5">
                  <c:v>1507</c:v>
                </c:pt>
                <c:pt idx="6">
                  <c:v>246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1122</c:v>
                </c:pt>
                <c:pt idx="1">
                  <c:v>1830</c:v>
                </c:pt>
                <c:pt idx="2">
                  <c:v>1959</c:v>
                </c:pt>
                <c:pt idx="3">
                  <c:v>2164</c:v>
                </c:pt>
                <c:pt idx="4">
                  <c:v>1898</c:v>
                </c:pt>
                <c:pt idx="5">
                  <c:v>2023</c:v>
                </c:pt>
                <c:pt idx="6">
                  <c:v>2150</c:v>
                </c:pt>
                <c:pt idx="7">
                  <c:v>2776</c:v>
                </c:pt>
                <c:pt idx="8">
                  <c:v>3081</c:v>
                </c:pt>
                <c:pt idx="9">
                  <c:v>2386</c:v>
                </c:pt>
                <c:pt idx="10">
                  <c:v>2387</c:v>
                </c:pt>
                <c:pt idx="11">
                  <c:v>1853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2806</c:v>
                </c:pt>
                <c:pt idx="1">
                  <c:v>2950</c:v>
                </c:pt>
                <c:pt idx="2">
                  <c:v>2015</c:v>
                </c:pt>
                <c:pt idx="3">
                  <c:v>3020</c:v>
                </c:pt>
                <c:pt idx="4">
                  <c:v>2518</c:v>
                </c:pt>
                <c:pt idx="5">
                  <c:v>1512</c:v>
                </c:pt>
                <c:pt idx="6">
                  <c:v>702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1594</c:v>
                </c:pt>
                <c:pt idx="7">
                  <c:v>1973</c:v>
                </c:pt>
                <c:pt idx="8">
                  <c:v>3266</c:v>
                </c:pt>
                <c:pt idx="9">
                  <c:v>2160</c:v>
                </c:pt>
                <c:pt idx="10">
                  <c:v>2325</c:v>
                </c:pt>
                <c:pt idx="11">
                  <c:v>1879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1467</c:v>
                </c:pt>
                <c:pt idx="1">
                  <c:v>1353</c:v>
                </c:pt>
                <c:pt idx="2">
                  <c:v>1210</c:v>
                </c:pt>
                <c:pt idx="3">
                  <c:v>1390</c:v>
                </c:pt>
                <c:pt idx="4">
                  <c:v>1122</c:v>
                </c:pt>
                <c:pt idx="5">
                  <c:v>672</c:v>
                </c:pt>
                <c:pt idx="6">
                  <c:v>617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451</c:v>
                </c:pt>
                <c:pt idx="8">
                  <c:v>973</c:v>
                </c:pt>
                <c:pt idx="9">
                  <c:v>768</c:v>
                </c:pt>
                <c:pt idx="10">
                  <c:v>982</c:v>
                </c:pt>
                <c:pt idx="11">
                  <c:v>1102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B7DDD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1042</c:v>
                </c:pt>
                <c:pt idx="1">
                  <c:v>1261</c:v>
                </c:pt>
                <c:pt idx="2">
                  <c:v>441</c:v>
                </c:pt>
                <c:pt idx="3">
                  <c:v>567</c:v>
                </c:pt>
                <c:pt idx="4">
                  <c:v>532</c:v>
                </c:pt>
                <c:pt idx="5">
                  <c:v>309</c:v>
                </c:pt>
                <c:pt idx="6">
                  <c:v>117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E4F0"/>
            </a:solidFill>
          </c:spP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1240</c:v>
                </c:pt>
                <c:pt idx="1">
                  <c:v>1270</c:v>
                </c:pt>
                <c:pt idx="2">
                  <c:v>646</c:v>
                </c:pt>
                <c:pt idx="3">
                  <c:v>906</c:v>
                </c:pt>
                <c:pt idx="4">
                  <c:v>755</c:v>
                </c:pt>
                <c:pt idx="5">
                  <c:v>1174</c:v>
                </c:pt>
                <c:pt idx="6">
                  <c:v>1504</c:v>
                </c:pt>
                <c:pt idx="7">
                  <c:v>1455</c:v>
                </c:pt>
                <c:pt idx="8">
                  <c:v>853</c:v>
                </c:pt>
                <c:pt idx="9">
                  <c:v>569</c:v>
                </c:pt>
                <c:pt idx="10">
                  <c:v>419</c:v>
                </c:pt>
                <c:pt idx="11">
                  <c:v>1284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7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14400" cy="54864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GS팀 월간 마감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맑은 고딕"/>
              </a:defRPr>
            </a:pPr>
            <a:r>
              <a:t>2026년 5월 실적 (YTD 1~5월 누계)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맑은 고딕"/>
              </a:defRPr>
            </a:pPr>
            <a:r>
              <a:t>SONO HOTELS &amp; RESORTS  |  온라인영업팀 (OTA / G-OTA / Inbound)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보고일: 2026-05-13  |  데이터 기준: 2026-05-13 06:42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1887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전체 실적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8132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RN / ADR / 매출 - 목표 vs 실적 vs 전년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47088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세그먼트별 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5856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OTA / G-OTA / Inbound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24328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432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사업장별 달성률 총괄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3580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전 사업장 목표달성률 및 YoY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01568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주요 채널별 실적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130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아고다, 야놀자, 여기어때, 트립닷컴 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178808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976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상품 카테고리별 실적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9028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올인클루시브, 조식PKG, 룸온니 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956048"/>
            <a:ext cx="91440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B7DDD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0749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333F"/>
                </a:solidFill>
                <a:latin typeface="맑은 고딕"/>
              </a:defRPr>
            </a:pPr>
            <a:r>
              <a:t>사업장별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6752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각 사업장 월별 상세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전체 실적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Overall Performance Summary (YTD)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60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객실수 (RN)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377,899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목표 870,542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DC2626"/>
                </a:solidFill>
                <a:latin typeface="맑은 고딕"/>
              </a:defRPr>
            </a:pPr>
            <a:r>
              <a:t>달성률 43.4%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256032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560320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1430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ADR (원)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37160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205,200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8288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목표 211,707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168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16A34A"/>
                </a:solidFill>
                <a:latin typeface="맑은 고딕"/>
              </a:defRPr>
            </a:pPr>
            <a:r>
              <a:t>YoY 2.1%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051560"/>
            <a:ext cx="256032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051560"/>
            <a:ext cx="2560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1430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매출 (억원)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37160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769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288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목표 1,820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1168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DC2626"/>
                </a:solidFill>
                <a:latin typeface="맑은 고딕"/>
              </a:defRPr>
            </a:pPr>
            <a:r>
              <a:t>달성률 42.2%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051560"/>
            <a:ext cx="256032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1051560"/>
            <a:ext cx="2560320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4300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전년비 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37160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-49.5%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8288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전년 747,693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01168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DC2626"/>
                </a:solidFill>
                <a:latin typeface="맑은 고딕"/>
              </a:defRPr>
            </a:pPr>
            <a:r>
              <a:t>Forecast 915,269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57200" y="2560320"/>
          <a:ext cx="53035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217920" y="2560320"/>
          <a:ext cx="530352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233172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월별 객실수 (RN) 추이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33172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월별 매출 (억원) 추이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세그먼트별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Segment Performance: OTA / G-OTA / Inbound (2026 YTD)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47472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474720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RN: 197,554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630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ADR: 218천원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매출: 43,070백만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916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YoY: -50.5%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전년 RN: 399,320  |  ADR: 213천원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B7DDD"/>
                </a:solidFill>
                <a:latin typeface="맑은 고딕"/>
              </a:defRPr>
            </a:pPr>
            <a:r>
              <a:t>비중: 52.7%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051560"/>
            <a:ext cx="347472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51560"/>
            <a:ext cx="3474720" cy="36576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G-OTA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4630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RN: 148,404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630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ADR: 209천원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6916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매출: 31,080백만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6916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YoY: -49.0%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6596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전년 RN: 290,845  |  ADR: 204천원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24028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28B22"/>
                </a:solidFill>
                <a:latin typeface="맑은 고딕"/>
              </a:defRPr>
            </a:pPr>
            <a:r>
              <a:t>비중: 39.6%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051560"/>
            <a:ext cx="347472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051560"/>
            <a:ext cx="3474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1430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Inbound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4630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RN: 28,839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14630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ADR: 96천원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1691640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D333F"/>
                </a:solidFill>
                <a:latin typeface="맑은 고딕"/>
              </a:defRPr>
            </a:pPr>
            <a:r>
              <a:t>매출: 2,790백만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1691640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YoY: -50.1%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96596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전년 RN: 57,753  |  ADR: 96천원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240280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맑은 고딕"/>
              </a:defRPr>
            </a:pPr>
            <a:r>
              <a:t>비중: 7.7%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457200" y="3200400"/>
          <a:ext cx="10972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57200" y="292608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월별 세그먼트 객실수 비교 (2026)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인바운드 실적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Inbound KPI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4572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1097280"/>
                <a:gridCol w="914400"/>
                <a:gridCol w="91440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4,998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-6.2%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5,689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6A34A"/>
                          </a:solidFill>
                          <a:latin typeface="맑은 고딕"/>
                        </a:rPr>
                        <a:t>+31.4%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6A34A"/>
                          </a:solidFill>
                          <a:latin typeface="맑은 고딕"/>
                        </a:rPr>
                        <a:t>+87.4%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6,521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6A34A"/>
                          </a:solidFill>
                          <a:latin typeface="맑은 고딕"/>
                        </a:rPr>
                        <a:t>+45.1%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4,463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6A34A"/>
                          </a:solidFill>
                          <a:latin typeface="맑은 고딕"/>
                        </a:rPr>
                        <a:t>+23.0%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-69.4%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-93.1%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78834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28,839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2,790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-50.1%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09728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D333F"/>
                </a:solidFill>
                <a:latin typeface="맑은 고딕"/>
              </a:defRPr>
            </a:pPr>
            <a:r>
              <a:t>인바운드 KPI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Budget RN (연간)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58,229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202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Stretch RN (연간)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70,299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Budget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95천원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517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Stretch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96.1천원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Budget 매출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5,532백만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832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Stretch 매출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맑은 고딕"/>
              </a:defRPr>
            </a:pPr>
            <a:r>
              <a:t>6,755백만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943600" y="384048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097280"/>
              </a:tblGrid>
              <a:tr h="249381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사업장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Budget 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Stretch 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 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고양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35,400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38,000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비발디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7,550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해운대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8,600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10,000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단양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여수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델피노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삼척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벨제주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양평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4939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거제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43600" y="3611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인바운드 사업장별 KPI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사업장별 달성률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Property Achievement Rate &amp; YoY Comparison (YTD)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0515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914400"/>
                <a:gridCol w="1097280"/>
                <a:gridCol w="1097280"/>
                <a:gridCol w="1097280"/>
                <a:gridCol w="109728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사업장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목표(RN)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실적(RN)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달성률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전년(RN)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목표ADR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실적ADR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매출(억)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매출달성률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01.벨비발디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102,250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48,572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47.5%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98,869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177,069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181,904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48.8%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02.캄비발디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23,830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25.8%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20,853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269,841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298,190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28.6%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03.펫비발디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15,350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5,440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35.4%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13,993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332,083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320,748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34.2%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04.펠리체비발디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27,380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10,702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23,763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315,380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311,834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38.6%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05.빌리지비발디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13,450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4,729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35.2%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11,691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354,572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360,897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35.8%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06.양평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9,390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4,357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46.4%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8,538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144,378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138,756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44.6%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07.델피노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80,730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41,088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50.9%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79,286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253,361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241,693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48.6%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08.쏠비치양양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32,970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14,014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42.5%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29,245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204,311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190,899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09.쏠비치삼척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61,300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28,195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46.0%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56,584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220,338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203,585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42.5%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10.소노벨단양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63,189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26,871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42.5%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54,641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163,062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151,016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11.소노캄경주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29,835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12,488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41.9%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5,535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262,673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278,805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44.4%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12.소노벨청송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22,920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11,587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50.6%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23,345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169,493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166,172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49.6%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13.소노벨천안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39,800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18,022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36,074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175,821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177,067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14.소노벨변산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33,950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13,347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31,591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172,806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176,518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40.2%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15.소노캄여수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19,680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7,835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17,162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264,778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257,729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38.8%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16.소노캄거제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34,400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15,687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32,877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227,287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226,139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17.쏠비치진도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54,850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23,335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42.5%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50,010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214,552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202,853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40.2%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18.소노벨제주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22,460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10,741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47.8%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21,871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178,443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170,711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19.소노캄제주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15,630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6,192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39.6%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11,650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250,496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186,311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29.5%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20.소노캄고양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81,500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31,263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38.4%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80,194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141,711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148,581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40.2%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21.소노문해운대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29,800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13,573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45.5%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23,018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90,829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82,462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41.4%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22.쏠비치남해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33,550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14,130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42.1%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13,044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355,463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367,715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43.6%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23.르네블루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11,495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6,352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55.3%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271,813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190,927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38.8%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25.팔라티움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10,833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3,219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29.7%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주요 채널별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Top Channel Performance (2026 YTD)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005840"/>
          <a:ext cx="5943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005840"/>
          <a:ext cx="5120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아고다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77,626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16,725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-38.7%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야놀자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56,405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13,213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-57.1%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여기어때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45,009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10,187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-60.8%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트립닷컴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31,960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6,307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-32.1%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28,839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스마트인피니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20,915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3,794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트립비토즈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15,612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네이버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15,102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3,583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익스피디아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13,184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-69.3%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타이드스퀘어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9,844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-42.2%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웹투어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9,349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+26.3%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쿠팡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8,601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-23.1%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부킹닷컴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8,574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프리즘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4,679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1,248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+38.4%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코이스토리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4,052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-38.5%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상품 카테고리별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Product Category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18872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1887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56,824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10,880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룸온니/프로모션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52,568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10,698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-71.0%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시즌패키지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31,093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-40.8%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세일/기획전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19,390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-37.3%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연박/투나잇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17,588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3,216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-71.1%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조식패키지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15,734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-69.6%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워터풀/오션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9,190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올인클루시브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7,830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-13.7%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889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사업장별 상세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맑은 고딕"/>
              </a:defRPr>
            </a:pPr>
            <a:r>
              <a:t>Property Detail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벨비발디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01.벨비발디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102,250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48,572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177,069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181,904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48.8%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17,975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14,312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+25.6%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17,283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14,901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+16.0%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5,655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-18.7%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6,948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6,791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4,828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6,701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-28.0%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10,098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-72.0%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13,137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-90.1%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16,884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5,970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10,937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55,759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10,005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113,800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19,536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-51.0%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30,520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5,490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60,689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-49.7%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11,477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2,269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22,427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-48.8%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6,070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캄비발디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02.캄비발디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23,830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6,160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25.8%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269,841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298,190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+12.1%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28.6%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2,658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4,059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1,223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-34.5%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3,574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-13.0%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-51.0%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-40.4%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-39.9%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-93.5%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-97.4%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3,752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933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7,945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2,270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285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26,907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7,030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-70.5%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12,679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-73.7%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2,812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8,015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-64.9%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-89.9%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펫비발디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03.펫비발디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15,350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5,440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332,083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320,748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34.2%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-17.3%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-16.2%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915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+16.7%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+22.4%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-31.9%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-75.3%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-92.3%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1,303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6,987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2,184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312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17,942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5,758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-61.1%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7,613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6,366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-62.9%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펠리체비발디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04.펠리체비발디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27,380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10,702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315,380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311,834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38.6%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4,101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+19.4%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4,351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1,262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3,392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+28.3%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-25.0%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1,586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-17.7%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-91.1%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12,397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3,760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303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26,646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8,246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-53.5%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6,444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13,794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-53.3%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4,211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1,303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9,913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-57.5%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-16.1%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빌리지비발디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05.빌리지비발디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13,450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4,729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35.2%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354,572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360,897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35.8%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+22.4%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-25.1%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-34.8%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-87.5%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5,036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1,798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357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12,891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4,509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-60.9%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7,232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4,459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New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양평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06.양평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9,390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4,357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144,378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138,756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-1.2%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44.6%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+0.6%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-15.0%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-14.7%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-70.5%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-94.2%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5,266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711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134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11,901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1,557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-55.8%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-48.9%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+0.2%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델피노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07.델피노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80,730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41,088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50.9%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253,361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241,693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48.6%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11,130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2,677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10,599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11,294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9,283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+21.7%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4,904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4,626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+6.0%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7,161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5,734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+24.9%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6,894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5,954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+15.8%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922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7,463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1,610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9,376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-80.4%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11,549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7,003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7,950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9,784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8,812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46,919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10,893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232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98,133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22,445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-52.2%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23,829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6,022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43,121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-44.7%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16,880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35,194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-61.0%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쏠비치양양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08.쏠비치양양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32,970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14,014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204,311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190,899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-3.0%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39.7%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3,567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+26.6%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+28.4%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-12.6%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-29.3%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4,000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-61.9%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4,630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-76.1%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2,229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17,676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3,235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182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37,226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6,969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-52.5%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8,743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16,602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-47.3%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5,271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12,577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-58.1%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쏠비치삼척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09.쏠비치삼척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61,300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28,195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220,338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203,585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-5.5%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42.5%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6,494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5,095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+27.5%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7,145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5,893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+21.2%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+6.6%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6,099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+13.0%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4,724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6,267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-24.6%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7,512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-64.0%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7,473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-74.2%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5,724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7,167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4,478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5,118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32,710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6,553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67,503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14,151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-51.5%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16,284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32,491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-49.9%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11,869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2,331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24,010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-49.4%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소노벨단양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10.소노벨단양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63,189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26,871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163,062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151,016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+2.6%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39.4%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4,971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5,760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-13.7%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7,426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5,508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+34.8%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4,179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+21.3%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+34.8%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+33.1%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1,907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5,588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-65.9%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7,234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-92.1%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9,359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4,800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6,627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5,895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29,696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4,483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64,094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9,278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-53.7%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15,229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35,379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-57.0%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9,394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1,417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17,257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-45.6%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+12.1%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소노캄경주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11.소노캄경주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29,835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12,488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262,673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278,805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44.4%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13,980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3,826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273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7,322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2,206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+90.9%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7,149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3,574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5,254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+174.2%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+88.9%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소노벨청송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12.소노벨청송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22,920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11,587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50.6%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169,493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166,172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49.6%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4,249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+20.2%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+40.3%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+102.3%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+8.2%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-77.6%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-97.4%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3,815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13,587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2,225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27,970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4,545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-51.4%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6,690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14,629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4,848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8,564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-43.4%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-67.8%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소노벨천안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13.소노벨천안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39,800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18,022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175,821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177,067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6,407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5,798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952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5,685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-23.9%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403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2,533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1,335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3,323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4,727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-87.1%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5,485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1,107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20,722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3,622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43,503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7,465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-52.4%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11,922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25,051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5,619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10,659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-47.3%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+32.1%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소노벨변산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14.소노벨변산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33,950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13,347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172,806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176,518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+4.1%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40.2%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3,898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-20.5%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4,096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+18.6%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-30.6%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432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-18.6%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3,341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4,323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-87.6%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1,818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16,058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2,769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38,222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6,242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-58.0%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7,051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17,763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-60.3%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6,252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13,582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-82.1%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소노캄여수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15.소노캄여수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19,680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7,835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264,778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257,729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-3.0%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38.8%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-23.6%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-23.5%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-20.4%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+18.5%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2,031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-16.0%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1,931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-78.9%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409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10,962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2,705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246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24,674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6,174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-55.6%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7,330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-65.4%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8,583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-47.1%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-39.1%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소노캄거제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16.소노캄거제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34,400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15,687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227,287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226,139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45.4%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4,197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-13.6%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4,495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987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4,295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-13.8%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3,120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+9.2%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3,954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-72.2%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5,020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-88.6%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4,988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2,577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2,440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17,925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3,991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222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40,344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8,753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-55.6%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9,144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18,156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-49.6%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6,484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14,611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-55.6%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-46.4%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쏠비치진도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17.쏠비치진도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54,850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23,335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214,552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202,853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-3.4%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40.2%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5,316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5,899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6,552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5,940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+10.3%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3,441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-23.1%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5,644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4,291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+31.5%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4,346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891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-15.0%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5,499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-66.5%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6,994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-89.0%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6,614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4,236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3,717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3,255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26,469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5,295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57,913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11,931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-54.3%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14,036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29,662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-52.7%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9,299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20,327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소노벨제주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18.소노벨제주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22,460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10,741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178,443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170,711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45.8%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+31.8%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2,116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+42.5%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1,534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+22.6%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+9.7%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2,537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-33.5%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4,176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-78.9%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12,892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2,152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166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28,828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4,734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-55.3%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3,946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8,111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-51.4%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6,635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1,117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13,380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380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-57.9%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소노캄제주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19.소노캄제주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15,630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6,192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250,496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186,311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+13.0%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29.5%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1,447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1,440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-11.6%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1,086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+12.3%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321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+4.7%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1,296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1,688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-49.2%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-87.2%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333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8,041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1,445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18,814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2,903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-57.3%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2,633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4,411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-40.3%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3,539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6,828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-48.2%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-95.1%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소노캄고양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20.소노캄고양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81,500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31,263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141,711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148,581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40.2%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7,246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5,579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+29.9%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6,436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10,689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-39.8%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9,900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+7.1%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11,963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1,798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11,735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1,605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7,008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9,768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-28.3%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2,626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11,857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-77.9%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12,257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-95.7%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10,206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-98.4%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12,089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1,645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13,082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12,010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1,638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9,265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45,866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6,597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143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127,785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17,500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-64.1%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3,627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14,704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-75.3%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13,352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30,939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-56.8%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14,284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1,354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34,551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-58.7%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소노문해운대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21.소노문해운대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29,800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13,573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90,829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82,462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-4.7%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41.4%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+84.0%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+9.8%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+29.7%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3,265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2,164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+50.9%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1,898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+59.7%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1,507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2,023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-25.5%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-88.6%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2,386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2,387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14,666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1,210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25,629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2,206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-42.8%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2,784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4,501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-38.1%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5,029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10,168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-50.5%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5,760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8,349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-31.0%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쏠비치남해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22.쏠비치남해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33,550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14,130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355,463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367,715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43.6%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2,806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2,950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2,015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3,020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1,038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344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937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1,512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1,594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578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-56.0%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3,266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2,160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847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2,325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15,523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5,588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359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13,197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4,900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+17.6%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7,868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2,950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374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9,012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-12.7%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6,243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2,242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359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4,028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+55.0%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+375.0%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르네블루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23.르네블루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11,495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6,352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55.3%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271,813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190,927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-11.3%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38.8%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1,467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1,353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1,390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672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6B728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768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982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193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1,102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7,831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1,490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190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4,276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927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+83.1%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3,771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2,451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+53.9%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2,581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456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1,408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6A34A"/>
                          </a:solidFill>
                          <a:latin typeface="맑은 고딕"/>
                        </a:rPr>
                        <a:t>+83.3%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사업장 상세: 팔라티움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맑은 고딕"/>
              </a:defRPr>
            </a:pPr>
            <a:r>
              <a:t>25.팔라티움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B7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10,833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3,219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달성률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29.7%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목표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실적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ADR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맑은 고딕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매출(억)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333F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960120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매출달성률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143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0.0%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1554480"/>
          <a:ext cx="6492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97280"/>
                <a:gridCol w="914400"/>
                <a:gridCol w="914400"/>
                <a:gridCol w="1097280"/>
                <a:gridCol w="91440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실적RN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전년매출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YoY%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1,042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223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1,240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248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-16.0%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1,261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1,270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-0.7%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441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646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-31.7%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567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906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83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-37.4%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755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-29.5%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309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1,174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141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-73.7%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117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1,504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-92.2%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1,455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285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853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569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91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419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1,284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-100.0%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4,269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711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166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12,075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1,817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-64.6%</a:t>
                      </a:r>
                    </a:p>
                  </a:txBody>
                  <a:tcPr anchor="ctr" marL="36000" marR="36000" marT="18000" marB="18000"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498079" y="155448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31520"/>
                <a:gridCol w="82296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세그먼트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매출(백만)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ADR(천)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전년RN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맑은 고딕"/>
                        </a:rPr>
                        <a:t>YoY</a:t>
                      </a:r>
                    </a:p>
                  </a:txBody>
                  <a:tcPr anchor="ctr" marL="36000" marR="36000" marT="18000" marB="18000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OTA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1,820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299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164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5,551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-67.2%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G-OTA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900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2,214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-59.3%</a:t>
                      </a:r>
                    </a:p>
                  </a:txBody>
                  <a:tcPr anchor="ctr" marL="36000" marR="36000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D333F"/>
                          </a:solidFill>
                          <a:latin typeface="맑은 고딕"/>
                        </a:rPr>
                        <a:t>Inbound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875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122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333F"/>
                          </a:solidFill>
                          <a:latin typeface="맑은 고딕"/>
                        </a:rPr>
                        <a:t>1,918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DC2626"/>
                          </a:solidFill>
                          <a:latin typeface="맑은 고딕"/>
                        </a:rPr>
                        <a:t>-54.4%</a:t>
                      </a:r>
                    </a:p>
                  </a:txBody>
                  <a:tcPr anchor="ctr" marL="36000" marR="36000" marT="18000" marB="180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세그먼트별 실적 (2026 YTD)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0" y="329184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0" y="306324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D333F"/>
                </a:solidFill>
                <a:latin typeface="맑은 고딕"/>
              </a:defRPr>
            </a:pPr>
            <a:r>
              <a:t>월별 RN 추이 (2026 vs 2025)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End of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맑은 고딕"/>
              </a:defRPr>
            </a:pPr>
            <a:r>
              <a:t>SONO HOTELS &amp; RESORTS  |  GS팀 온라인영업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