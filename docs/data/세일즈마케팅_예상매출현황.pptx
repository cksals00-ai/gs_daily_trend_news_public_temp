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3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39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74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386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55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44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73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662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152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698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905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387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-9342" y="464126"/>
            <a:ext cx="91716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 userDrawn="1"/>
        </p:nvSpPr>
        <p:spPr>
          <a:xfrm>
            <a:off x="1" y="0"/>
            <a:ext cx="9144000" cy="464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5" name="Slide Number Placeholder 3"/>
          <p:cNvSpPr txBox="1">
            <a:spLocks/>
          </p:cNvSpPr>
          <p:nvPr userDrawn="1"/>
        </p:nvSpPr>
        <p:spPr>
          <a:xfrm>
            <a:off x="3272937" y="6651306"/>
            <a:ext cx="2598126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38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738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 </a:t>
            </a:r>
            <a:fld id="{139B9628-D260-44E5-8C8F-2D156FF703C3}" type="slidenum">
              <a:rPr lang="en-US" altLang="ko-KR" sz="738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738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 -</a:t>
            </a:r>
            <a:endParaRPr lang="en-US" altLang="ko-KR" sz="738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6199350" y="173613"/>
            <a:ext cx="2772231" cy="2301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en-US" altLang="ko-KR" sz="1662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Sales Marketing</a:t>
            </a:r>
            <a:endParaRPr lang="en-US" altLang="ko-KR" sz="1662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>
                  <a:lumMod val="75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33981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29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 txBox="1">
            <a:spLocks/>
          </p:cNvSpPr>
          <p:nvPr/>
        </p:nvSpPr>
        <p:spPr>
          <a:xfrm>
            <a:off x="6942629" y="967488"/>
            <a:ext cx="1916849" cy="2415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844083">
              <a:spcBef>
                <a:spcPts val="0"/>
              </a:spcBef>
              <a:defRPr/>
            </a:pPr>
            <a:r>
              <a:rPr lang="ko-KR" altLang="en-US" sz="83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단위 </a:t>
            </a:r>
            <a:r>
              <a:rPr lang="en-US" altLang="ko-KR" sz="83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: </a:t>
            </a:r>
            <a:r>
              <a:rPr lang="ko-KR" altLang="en-US" sz="83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백만원</a:t>
            </a:r>
            <a:endParaRPr lang="en-US" altLang="ko-KR" sz="646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395416" y="873313"/>
            <a:ext cx="6357006" cy="33634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ko-KR" sz="1477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1. </a:t>
            </a:r>
            <a:r>
              <a:rPr lang="ko-KR" altLang="en-US" sz="1477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세일즈마케팅 예상 매출 현황</a:t>
            </a:r>
            <a:endParaRPr lang="en-US" altLang="ko-KR" sz="1477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420" y="163968"/>
            <a:ext cx="2772231" cy="2301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1662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Ⅱ. [</a:t>
            </a:r>
            <a:r>
              <a:rPr lang="ko-KR" altLang="en-US" sz="1662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마케팅</a:t>
            </a:r>
            <a:r>
              <a:rPr lang="en-US" altLang="ko-KR" sz="1662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] </a:t>
            </a:r>
            <a:r>
              <a:rPr lang="ko-KR" altLang="en-US" sz="1662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주간 업무 보고</a:t>
            </a:r>
            <a:endParaRPr lang="en-US" altLang="ko-KR" sz="1662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096077"/>
              </p:ext>
            </p:extLst>
          </p:nvPr>
        </p:nvGraphicFramePr>
        <p:xfrm>
          <a:off x="395416" y="1209076"/>
          <a:ext cx="8466016" cy="5047700"/>
        </p:xfrm>
        <a:graphic>
          <a:graphicData uri="http://schemas.openxmlformats.org/drawingml/2006/table">
            <a:tbl>
              <a:tblPr/>
              <a:tblGrid>
                <a:gridCol w="166154">
                  <a:extLst>
                    <a:ext uri="{9D8B030D-6E8A-4147-A177-3AD203B41FA5}">
                      <a16:colId xmlns:a16="http://schemas.microsoft.com/office/drawing/2014/main" val="2164630410"/>
                    </a:ext>
                  </a:extLst>
                </a:gridCol>
                <a:gridCol w="498462">
                  <a:extLst>
                    <a:ext uri="{9D8B030D-6E8A-4147-A177-3AD203B41FA5}">
                      <a16:colId xmlns:a16="http://schemas.microsoft.com/office/drawing/2014/main" val="186640120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150087608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11167159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04803387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325145744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047406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8389882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6512704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201646386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21928608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9561178"/>
                    </a:ext>
                  </a:extLst>
                </a:gridCol>
                <a:gridCol w="58631">
                  <a:extLst>
                    <a:ext uri="{9D8B030D-6E8A-4147-A177-3AD203B41FA5}">
                      <a16:colId xmlns:a16="http://schemas.microsoft.com/office/drawing/2014/main" val="1778775893"/>
                    </a:ext>
                  </a:extLst>
                </a:gridCol>
                <a:gridCol w="465231">
                  <a:extLst>
                    <a:ext uri="{9D8B030D-6E8A-4147-A177-3AD203B41FA5}">
                      <a16:colId xmlns:a16="http://schemas.microsoft.com/office/drawing/2014/main" val="265956312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1891710517"/>
                    </a:ext>
                  </a:extLst>
                </a:gridCol>
                <a:gridCol w="465231">
                  <a:extLst>
                    <a:ext uri="{9D8B030D-6E8A-4147-A177-3AD203B41FA5}">
                      <a16:colId xmlns:a16="http://schemas.microsoft.com/office/drawing/2014/main" val="1568728352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388294928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8643226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72443508"/>
                    </a:ext>
                  </a:extLst>
                </a:gridCol>
                <a:gridCol w="465231">
                  <a:extLst>
                    <a:ext uri="{9D8B030D-6E8A-4147-A177-3AD203B41FA5}">
                      <a16:colId xmlns:a16="http://schemas.microsoft.com/office/drawing/2014/main" val="904524012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209475317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474480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62248171"/>
                    </a:ext>
                  </a:extLst>
                </a:gridCol>
              </a:tblGrid>
              <a:tr h="260254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구  </a:t>
                      </a:r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분</a:t>
                      </a:r>
                      <a:endParaRPr lang="en-US" altLang="ko-KR" sz="8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당월 예상실적 (10.01~10.31)</a:t>
                      </a:r>
                      <a:endParaRPr lang="en-US" altLang="ko-KR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3231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누계 실적 (01.01~10.31)</a:t>
                      </a:r>
                      <a:endParaRPr lang="en-US" altLang="ko-KR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256210"/>
                  </a:ext>
                </a:extLst>
              </a:tr>
              <a:tr h="26025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3231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77154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운영 매출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74,488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100%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57,655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100%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3231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333,770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100%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272,486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100%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92493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세일즈마케팅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27,120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21,513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37%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  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126,466 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38%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  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109,035 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801439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마케팅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4,149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2,997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20,679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15,704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712736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자사몰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3,675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2,835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17,708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13,812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04435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제휴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474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162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2,971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1,892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4314529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GS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15,988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15,546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28%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-442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12,246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23%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3,300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155,016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174,345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19,329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125,643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27%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48,702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62840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OTA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9,610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7,954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16%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-1,656</a:t>
                      </a:r>
                      <a:endParaRPr lang="en-US" altLang="ko-KR" sz="700" b="0" i="0" u="none" strike="noStrike" kern="1200" dirty="0">
                        <a:solidFill>
                          <a:srgbClr val="FF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7,533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89,984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99,710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23%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9,726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72,397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27,313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830610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GOTA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5,859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6,818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960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4,214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2,604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60,643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68,080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7,437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49,155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18,925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999865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Inbound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520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774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255</a:t>
                      </a:r>
                      <a:endParaRPr lang="en-US" altLang="ko-KR" sz="700" b="0" i="0" u="none" strike="noStrike" kern="1200" dirty="0">
                        <a:solidFill>
                          <a:srgbClr val="FF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149%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498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4,389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6,555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2,166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149%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4,092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2,464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210481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MICE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8,128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6,829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31,072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30,183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662367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G-MICE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7,424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5,801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29,221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27,112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195734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E-MICE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704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1,014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1,851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2,983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046851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Other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88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681291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레저마케팅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1,321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1,242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4,267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3,748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120293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자사몰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179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133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863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442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420375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외부채널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1,142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1,109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3,404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3,306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681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389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421</TotalTime>
  <Words>334</Words>
  <Application>Microsoft Office PowerPoint</Application>
  <PresentationFormat>화면 슬라이드 쇼(4:3)</PresentationFormat>
  <Paragraphs>217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대명체 굵게</vt:lpstr>
      <vt:lpstr>대명체 보통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Chanmin</cp:lastModifiedBy>
  <cp:revision>6</cp:revision>
  <dcterms:created xsi:type="dcterms:W3CDTF">2026-05-27T23:40:10Z</dcterms:created>
  <dcterms:modified xsi:type="dcterms:W3CDTF">2026-06-04T05:30:52Z</dcterms:modified>
</cp:coreProperties>
</file>