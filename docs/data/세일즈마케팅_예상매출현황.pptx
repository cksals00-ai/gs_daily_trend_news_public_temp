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7" r:id="rId2"/>
  </p:sldIdLst>
  <p:sldSz cx="9144000" cy="6858000" type="screen4x3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7" autoAdjust="0"/>
    <p:restoredTop sz="94660"/>
  </p:normalViewPr>
  <p:slideViewPr>
    <p:cSldViewPr snapToGrid="0">
      <p:cViewPr varScale="1">
        <p:scale>
          <a:sx n="117" d="100"/>
          <a:sy n="117" d="100"/>
        </p:scale>
        <p:origin x="1332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클릭하여 마스터 부제목 스타일 편집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5394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4874436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0038672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845514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3044684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373791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1466253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6115237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 smtClean="0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 편집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396980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4090585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6038787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" name="직선 연결선 2"/>
          <p:cNvCxnSpPr/>
          <p:nvPr userDrawn="1"/>
        </p:nvCxnSpPr>
        <p:spPr>
          <a:xfrm>
            <a:off x="-9342" y="464126"/>
            <a:ext cx="9171692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직사각형 1"/>
          <p:cNvSpPr/>
          <p:nvPr userDrawn="1"/>
        </p:nvSpPr>
        <p:spPr>
          <a:xfrm>
            <a:off x="1" y="0"/>
            <a:ext cx="9144000" cy="4641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sz="1662"/>
          </a:p>
        </p:txBody>
      </p:sp>
      <p:sp>
        <p:nvSpPr>
          <p:cNvPr id="5" name="Slide Number Placeholder 3"/>
          <p:cNvSpPr txBox="1">
            <a:spLocks/>
          </p:cNvSpPr>
          <p:nvPr userDrawn="1"/>
        </p:nvSpPr>
        <p:spPr>
          <a:xfrm>
            <a:off x="3272937" y="6651306"/>
            <a:ext cx="2598126" cy="206695"/>
          </a:xfrm>
          <a:prstGeom prst="rect">
            <a:avLst/>
          </a:prstGeom>
        </p:spPr>
        <p:txBody>
          <a:bodyPr/>
          <a:lstStyle>
            <a:defPPr>
              <a:defRPr lang="ko-KR"/>
            </a:defPPr>
            <a:lvl1pPr marL="0" algn="l" defTabSz="914400" rtl="0" eaLnBrk="1" latinLnBrk="1" hangingPunct="1">
              <a:defRPr sz="900" kern="1200" spc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1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-</a:t>
            </a:r>
            <a:r>
              <a:rPr lang="ko-KR" altLang="en-US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</a:t>
            </a:r>
            <a:fld id="{139B9628-D260-44E5-8C8F-2D156FF703C3}" type="slidenum">
              <a:rPr lang="en-US" altLang="ko-KR" sz="738" b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pPr algn="ctr"/>
              <a:t>‹#›</a:t>
            </a:fld>
            <a:r>
              <a:rPr lang="en-US" altLang="ko-KR" sz="738" b="0" dirty="0" smtClean="0">
                <a:ln>
                  <a:solidFill>
                    <a:schemeClr val="accent1">
                      <a:alpha val="0"/>
                    </a:scheme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보통" panose="020B0600000101010101" pitchFamily="50" charset="-127"/>
                <a:ea typeface="대명체 보통" panose="020B0600000101010101" pitchFamily="50" charset="-127"/>
              </a:rPr>
              <a:t> -</a:t>
            </a:r>
            <a:endParaRPr lang="en-US" altLang="ko-KR" sz="738" b="0" dirty="0">
              <a:ln>
                <a:solidFill>
                  <a:schemeClr val="accent1">
                    <a:alpha val="0"/>
                  </a:scheme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보통" panose="020B0600000101010101" pitchFamily="50" charset="-127"/>
              <a:ea typeface="대명체 보통" panose="020B0600000101010101" pitchFamily="50" charset="-127"/>
            </a:endParaRPr>
          </a:p>
        </p:txBody>
      </p:sp>
      <p:sp>
        <p:nvSpPr>
          <p:cNvPr id="7" name="TextBox 6"/>
          <p:cNvSpPr txBox="1"/>
          <p:nvPr userDrawn="1"/>
        </p:nvSpPr>
        <p:spPr>
          <a:xfrm>
            <a:off x="6199350" y="173613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r">
              <a:lnSpc>
                <a:spcPct val="90000"/>
              </a:lnSpc>
              <a:defRPr/>
            </a:pPr>
            <a:r>
              <a:rPr lang="en-US" altLang="ko-KR" sz="1662" dirty="0" smtClean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bg1">
                    <a:lumMod val="75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Sales Marketing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bg1">
                  <a:lumMod val="75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30339813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 편집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CB144AD-CF07-4696-A154-BFD7857F29FF}" type="datetimeFigureOut">
              <a:rPr lang="ko-KR" altLang="en-US" smtClean="0"/>
              <a:t>2026-06-04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04FE93C-FAE1-431D-9ED6-7FAA8F537E4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602969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제목 1"/>
          <p:cNvSpPr txBox="1">
            <a:spLocks/>
          </p:cNvSpPr>
          <p:nvPr/>
        </p:nvSpPr>
        <p:spPr>
          <a:xfrm>
            <a:off x="6942629" y="967488"/>
            <a:ext cx="1916849" cy="241588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r" defTabSz="844083">
              <a:spcBef>
                <a:spcPts val="0"/>
              </a:spcBef>
              <a:defRPr/>
            </a:pP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단위 </a:t>
            </a:r>
            <a:r>
              <a:rPr lang="en-US" altLang="ko-KR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: </a:t>
            </a:r>
            <a:r>
              <a:rPr lang="ko-KR" altLang="en-US" sz="831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white">
                    <a:lumMod val="50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백만원</a:t>
            </a:r>
            <a:endParaRPr lang="en-US" altLang="ko-KR" sz="646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white">
                  <a:lumMod val="50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12" name="제목 1"/>
          <p:cNvSpPr txBox="1">
            <a:spLocks/>
          </p:cNvSpPr>
          <p:nvPr/>
        </p:nvSpPr>
        <p:spPr>
          <a:xfrm>
            <a:off x="395416" y="873313"/>
            <a:ext cx="6357006" cy="336349"/>
          </a:xfrm>
          <a:prstGeom prst="rect">
            <a:avLst/>
          </a:prstGeom>
        </p:spPr>
        <p:txBody>
          <a:bodyPr vert="horz" lIns="0" tIns="0" rIns="0" bIns="0" rtlCol="0" anchor="ctr">
            <a:no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>
              <a:spcBef>
                <a:spcPts val="0"/>
              </a:spcBef>
              <a:defRPr/>
            </a:pPr>
            <a:r>
              <a:rPr lang="en-US" altLang="ko-KR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1. </a:t>
            </a:r>
            <a:r>
              <a:rPr lang="ko-KR" altLang="en-US" sz="1477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prstClr val="black">
                    <a:lumMod val="75000"/>
                    <a:lumOff val="25000"/>
                  </a:prst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</a:rPr>
              <a:t>세일즈마케팅 예상 매출 현황</a:t>
            </a:r>
            <a:endParaRPr lang="en-US" altLang="ko-KR" sz="1477" dirty="0">
              <a:ln>
                <a:solidFill>
                  <a:srgbClr val="5B9BD5">
                    <a:alpha val="0"/>
                  </a:srgbClr>
                </a:solidFill>
              </a:ln>
              <a:solidFill>
                <a:prstClr val="black">
                  <a:lumMod val="75000"/>
                  <a:lumOff val="25000"/>
                </a:prstClr>
              </a:solidFill>
              <a:latin typeface="대명체 굵게" panose="020B0600000101010101" pitchFamily="50" charset="-127"/>
              <a:ea typeface="대명체 굵게" panose="020B0600000101010101" pitchFamily="50" charset="-127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108420" y="163968"/>
            <a:ext cx="2772231" cy="230191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>
              <a:lnSpc>
                <a:spcPct val="90000"/>
              </a:lnSpc>
              <a:defRPr/>
            </a:pP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Ⅱ. [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마케팅</a:t>
            </a:r>
            <a:r>
              <a:rPr lang="en-US" altLang="ko-KR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] </a:t>
            </a:r>
            <a:r>
              <a:rPr lang="ko-KR" altLang="en-US" sz="1662" dirty="0">
                <a:ln>
                  <a:solidFill>
                    <a:srgbClr val="5B9BD5">
                      <a:alpha val="0"/>
                    </a:srgbClr>
                  </a:solidFill>
                </a:ln>
                <a:solidFill>
                  <a:schemeClr val="tx1">
                    <a:lumMod val="50000"/>
                    <a:lumOff val="50000"/>
                  </a:schemeClr>
                </a:solidFill>
                <a:latin typeface="대명체 굵게" panose="020B0600000101010101" pitchFamily="50" charset="-127"/>
                <a:ea typeface="대명체 굵게" panose="020B0600000101010101" pitchFamily="50" charset="-127"/>
                <a:cs typeface="+mj-cs"/>
              </a:rPr>
              <a:t>주간 업무 보고</a:t>
            </a:r>
            <a:endParaRPr lang="en-US" altLang="ko-KR" sz="1662" dirty="0">
              <a:ln>
                <a:solidFill>
                  <a:srgbClr val="5B9BD5">
                    <a:alpha val="0"/>
                  </a:srgbClr>
                </a:solidFill>
              </a:ln>
              <a:solidFill>
                <a:schemeClr val="tx1">
                  <a:lumMod val="50000"/>
                  <a:lumOff val="50000"/>
                </a:schemeClr>
              </a:solidFill>
              <a:latin typeface="대명체 굵게" panose="020B0600000101010101" pitchFamily="50" charset="-127"/>
              <a:ea typeface="대명체 굵게" panose="020B0600000101010101" pitchFamily="50" charset="-127"/>
              <a:cs typeface="+mj-cs"/>
            </a:endParaRPr>
          </a:p>
        </p:txBody>
      </p:sp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34096077"/>
              </p:ext>
            </p:extLst>
          </p:nvPr>
        </p:nvGraphicFramePr>
        <p:xfrm>
          <a:off x="395416" y="1209076"/>
          <a:ext cx="8466016" cy="5047700"/>
        </p:xfrm>
        <a:graphic>
          <a:graphicData uri="http://schemas.openxmlformats.org/drawingml/2006/table">
            <a:tbl>
              <a:tblPr/>
              <a:tblGrid>
                <a:gridCol w="166154">
                  <a:extLst>
                    <a:ext uri="{9D8B030D-6E8A-4147-A177-3AD203B41FA5}">
                      <a16:colId xmlns:a16="http://schemas.microsoft.com/office/drawing/2014/main" val="2164630410"/>
                    </a:ext>
                  </a:extLst>
                </a:gridCol>
                <a:gridCol w="498462">
                  <a:extLst>
                    <a:ext uri="{9D8B030D-6E8A-4147-A177-3AD203B41FA5}">
                      <a16:colId xmlns:a16="http://schemas.microsoft.com/office/drawing/2014/main" val="186640120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150087608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116715923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104803387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25145744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050474066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83898829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16512704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16463868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1219286085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19561178"/>
                    </a:ext>
                  </a:extLst>
                </a:gridCol>
                <a:gridCol w="58631">
                  <a:extLst>
                    <a:ext uri="{9D8B030D-6E8A-4147-A177-3AD203B41FA5}">
                      <a16:colId xmlns:a16="http://schemas.microsoft.com/office/drawing/2014/main" val="1778775893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2659563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1891710517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156872835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388294928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486432264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272443508"/>
                    </a:ext>
                  </a:extLst>
                </a:gridCol>
                <a:gridCol w="465231">
                  <a:extLst>
                    <a:ext uri="{9D8B030D-6E8A-4147-A177-3AD203B41FA5}">
                      <a16:colId xmlns:a16="http://schemas.microsoft.com/office/drawing/2014/main" val="904524012"/>
                    </a:ext>
                  </a:extLst>
                </a:gridCol>
                <a:gridCol w="265846">
                  <a:extLst>
                    <a:ext uri="{9D8B030D-6E8A-4147-A177-3AD203B41FA5}">
                      <a16:colId xmlns:a16="http://schemas.microsoft.com/office/drawing/2014/main" val="2094753171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2474480797"/>
                    </a:ext>
                  </a:extLst>
                </a:gridCol>
                <a:gridCol w="432000">
                  <a:extLst>
                    <a:ext uri="{9D8B030D-6E8A-4147-A177-3AD203B41FA5}">
                      <a16:colId xmlns:a16="http://schemas.microsoft.com/office/drawing/2014/main" val="3462248171"/>
                    </a:ext>
                  </a:extLst>
                </a:gridCol>
              </a:tblGrid>
              <a:tr h="260254">
                <a:tc rowSpan="2"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구  </a:t>
                      </a:r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분</a:t>
                      </a:r>
                      <a:endParaRPr lang="en-US" altLang="ko-KR" sz="800" b="1" i="0" u="none" strike="noStrike" dirty="0" smtClean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rowSpan="2"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당월 예상실적 (08.01~08.31)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10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누계 실적 (01.01~08.31)</a:t>
                      </a:r>
                      <a:endParaRPr lang="en-US" altLang="ko-KR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40256210"/>
                  </a:ext>
                </a:extLst>
              </a:tr>
              <a:tr h="260254">
                <a:tc gridSpan="2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hMerge="1"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ko-KR" altLang="en-US" sz="2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목표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en-US" altLang="ko-KR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Forecast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ko-KR" altLang="en-US" sz="800" b="1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1" i="0" u="none" strike="noStrike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달성률</a:t>
                      </a:r>
                    </a:p>
                  </a:txBody>
                  <a:tcPr marL="7036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전년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bg1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증감률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bg1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33231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65000"/>
                        <a:lumOff val="3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25977154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운영 매출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74,488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57,655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dirty="0"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0" marR="33231" marT="0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333,770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272,486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100%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D9D9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245692493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세일즈마케팅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27,120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21,513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37%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126,466 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38%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ko-KR" altLang="en-US" sz="700" b="0" i="0" u="none" strike="noStrike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   </a:t>
                      </a:r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109,035 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1880143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4,149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2,997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 dirty="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20,679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15,704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205712736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3,675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2,835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17,708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13,812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5670443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제휴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474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162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2,971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1,892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84314529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GS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25,701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1,842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20,965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4,735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124,921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142,171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17,249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114%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102,130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40,041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4296284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14,604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15,332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16%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728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12,885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2,446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72,351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83,054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23%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10,703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115%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58,458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24,596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022830610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GOTA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8,857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9,859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1,002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111%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7,694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8%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2,165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49,103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9%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53,953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15%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ko-KR" altLang="en-US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4,849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40,447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10%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13,506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33%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899986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Inbound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399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510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112</a:t>
                      </a:r>
                      <a:endParaRPr lang="en-US" altLang="ko-KR" sz="700" b="0" i="0" u="none" strike="noStrike" kern="1200" dirty="0">
                        <a:solidFill>
                          <a:srgbClr val="FF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128%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386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124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algn="r" defTabSz="914400" rtl="0" eaLnBrk="1" fontAlgn="ctr" latinLnBrk="1" hangingPunct="1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32%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3,467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5,164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 smtClean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1,697</a:t>
                      </a:r>
                      <a:endParaRPr lang="en-US" altLang="ko-KR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149%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3,225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2%</a:t>
                      </a:r>
                    </a:p>
                  </a:txBody>
                  <a:tcPr marL="9525" marR="9525" marT="9525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1,939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60%</a:t>
                      </a:r>
                    </a:p>
                  </a:txBody>
                  <a:tcPr marL="9525" marR="9525" marT="9525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17021048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en-US" altLang="ko-KR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MICE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A6A6A6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8,128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 kern="1200" dirty="0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  <a:cs typeface="+mn-cs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sz="700" b="0" i="0" u="none" strike="noStrike" kern="1200" dirty="0">
                        <a:solidFill>
                          <a:srgbClr val="000000"/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  <a:cs typeface="+mn-cs"/>
                      </a:endParaRP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6,829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31,072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30,183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23662367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G-MICE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7,424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5,801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29,221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9%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27,112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55195734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E-MICE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704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1,014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1,851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2,983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01046851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en-US" sz="800" b="0" i="0" u="none" strike="noStrike" dirty="0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Other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14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-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547681291"/>
                  </a:ext>
                </a:extLst>
              </a:tr>
              <a:tr h="282462">
                <a:tc gridSpan="2"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레저마케팅</a:t>
                      </a:r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1,321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1,242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4,267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3,748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25120293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　</a:t>
                      </a: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자사몰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179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133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863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442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0%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465420375"/>
                  </a:ext>
                </a:extLst>
              </a:tr>
              <a:tr h="282462">
                <a:tc>
                  <a:txBody>
                    <a:bodyPr/>
                    <a:lstStyle/>
                    <a:p>
                      <a:pPr algn="l" rtl="0" fontAlgn="ctr"/>
                      <a:endParaRPr lang="ko-KR" alt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>
                      <a:noFill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rtl="0" fontAlgn="ctr"/>
                      <a:r>
                        <a:rPr lang="ko-KR" altLang="en-US" sz="800" b="0" i="0" u="none" strike="noStrike" dirty="0" err="1" smtClean="0">
                          <a:ln>
                            <a:solidFill>
                              <a:schemeClr val="accent1">
                                <a:alpha val="0"/>
                              </a:schemeClr>
                            </a:solidFill>
                          </a:ln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외부채널</a:t>
                      </a:r>
                      <a:endParaRPr lang="en-US" sz="800" b="0" i="0" u="none" strike="noStrike" dirty="0">
                        <a:ln>
                          <a:solidFill>
                            <a:schemeClr val="accent1">
                              <a:alpha val="0"/>
                            </a:schemeClr>
                          </a:solidFill>
                        </a:ln>
                        <a:solidFill>
                          <a:schemeClr val="tx1">
                            <a:lumMod val="95000"/>
                            <a:lumOff val="5000"/>
                          </a:schemeClr>
                        </a:solidFill>
                        <a:effectLst/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66462" marR="33231" marT="7036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1,142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1,109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2%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/>
                      <a:endParaRPr lang="ko-KR" altLang="en-US" sz="700">
                        <a:latin typeface="대명체 보통" panose="020B0600000101010101" pitchFamily="50" charset="-127"/>
                        <a:ea typeface="대명체 보통" panose="020B0600000101010101" pitchFamily="50" charset="-127"/>
                      </a:endParaRP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3,404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rtl="0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3,306</a:t>
                      </a:r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fontAlgn="ctr"/>
                      <a:r>
                        <a:rPr lang="en-US" altLang="ko-KR" sz="700" b="0" i="0" u="none" strike="noStrike">
                          <a:solidFill>
                            <a:srgbClr val="000000"/>
                          </a:solidFill>
                          <a:effectLst/>
                          <a:latin typeface="대명체 보통" panose="020B0600000101010101" pitchFamily="50" charset="-127"/>
                          <a:ea typeface="대명체 보통" panose="020B0600000101010101" pitchFamily="50" charset="-127"/>
                        </a:rPr>
                        <a:t>1%</a:t>
                      </a:r>
                    </a:p>
                  </a:txBody>
                  <a:tcPr marL="8792" marR="8792" marT="8792" marB="0" anchor="ctr">
                    <a:lnL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endParaRPr lang="ko-KR" altLang="en-US" dirty="0"/>
                    </a:p>
                  </a:txBody>
                  <a:tcPr marL="8792" marR="8792" marT="8792" marB="0" anchor="ctr">
                    <a:lnL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 w="635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2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19468160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5023891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/>
    </mc:Choice>
    <mc:Fallback xmlns="">
      <p:transition spd="slow"/>
    </mc:Fallback>
  </mc:AlternateContent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421</TotalTime>
  <Words>334</Words>
  <Application>Microsoft Office PowerPoint</Application>
  <PresentationFormat>화면 슬라이드 쇼(4:3)</PresentationFormat>
  <Paragraphs>217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8" baseType="lpstr">
      <vt:lpstr>Arial</vt:lpstr>
      <vt:lpstr>Calibri</vt:lpstr>
      <vt:lpstr>Calibri Light</vt:lpstr>
      <vt:lpstr>대명체 굵게</vt:lpstr>
      <vt:lpstr>대명체 보통</vt:lpstr>
      <vt:lpstr>맑은 고딕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Chanmin</cp:lastModifiedBy>
  <cp:revision>6</cp:revision>
  <dcterms:created xsi:type="dcterms:W3CDTF">2026-05-27T23:40:10Z</dcterms:created>
  <dcterms:modified xsi:type="dcterms:W3CDTF">2026-06-04T05:30:52Z</dcterms:modified>
</cp:coreProperties>
</file>