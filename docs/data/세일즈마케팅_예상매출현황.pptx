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7" r:id="rId2"/>
  </p:sldIdLst>
  <p:sldSz cx="9144000" cy="6858000" type="screen4x3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7" d="100"/>
          <a:sy n="117" d="100"/>
        </p:scale>
        <p:origin x="133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53945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87443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003867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845514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04468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937379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146625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611523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 smtClean="0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96980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409058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6038787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직선 연결선 2"/>
          <p:cNvCxnSpPr/>
          <p:nvPr userDrawn="1"/>
        </p:nvCxnSpPr>
        <p:spPr>
          <a:xfrm>
            <a:off x="-9342" y="464126"/>
            <a:ext cx="9171692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직사각형 1"/>
          <p:cNvSpPr/>
          <p:nvPr userDrawn="1"/>
        </p:nvSpPr>
        <p:spPr>
          <a:xfrm>
            <a:off x="1" y="0"/>
            <a:ext cx="9144000" cy="46412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62"/>
          </a:p>
        </p:txBody>
      </p:sp>
      <p:sp>
        <p:nvSpPr>
          <p:cNvPr id="5" name="Slide Number Placeholder 3"/>
          <p:cNvSpPr txBox="1">
            <a:spLocks/>
          </p:cNvSpPr>
          <p:nvPr userDrawn="1"/>
        </p:nvSpPr>
        <p:spPr>
          <a:xfrm>
            <a:off x="3272937" y="6651306"/>
            <a:ext cx="2598126" cy="206695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900" kern="1200" spc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-</a:t>
            </a:r>
            <a:r>
              <a:rPr lang="ko-KR" altLang="en-US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 </a:t>
            </a:r>
            <a:fld id="{139B9628-D260-44E5-8C8F-2D156FF703C3}" type="slidenum">
              <a:rPr lang="en-US" altLang="ko-KR" sz="738" b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pPr algn="ctr"/>
              <a:t>‹#›</a:t>
            </a:fld>
            <a:r>
              <a:rPr lang="en-US" altLang="ko-KR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 -</a:t>
            </a:r>
            <a:endParaRPr lang="en-US" altLang="ko-KR" sz="738" b="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50000"/>
                  <a:lumOff val="50000"/>
                </a:schemeClr>
              </a:solidFill>
              <a:latin typeface="대명체 보통" panose="020B0600000101010101" pitchFamily="50" charset="-127"/>
              <a:ea typeface="대명체 보통" panose="020B0600000101010101" pitchFamily="50" charset="-127"/>
            </a:endParaRPr>
          </a:p>
        </p:txBody>
      </p:sp>
      <p:sp>
        <p:nvSpPr>
          <p:cNvPr id="7" name="TextBox 6"/>
          <p:cNvSpPr txBox="1"/>
          <p:nvPr userDrawn="1"/>
        </p:nvSpPr>
        <p:spPr>
          <a:xfrm>
            <a:off x="6199350" y="173613"/>
            <a:ext cx="2772231" cy="2301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en-US" altLang="ko-KR" sz="1662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bg1">
                    <a:lumMod val="75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Sales Marketing</a:t>
            </a:r>
            <a:endParaRPr lang="en-US" altLang="ko-KR" sz="1662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bg1">
                  <a:lumMod val="75000"/>
                </a:schemeClr>
              </a:solidFill>
              <a:latin typeface="대명체 굵게" panose="020B0600000101010101" pitchFamily="50" charset="-127"/>
              <a:ea typeface="대명체 굵게" panose="020B0600000101010101" pitchFamily="50" charset="-127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30339813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02969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제목 1"/>
          <p:cNvSpPr txBox="1">
            <a:spLocks/>
          </p:cNvSpPr>
          <p:nvPr/>
        </p:nvSpPr>
        <p:spPr>
          <a:xfrm>
            <a:off x="6942629" y="967488"/>
            <a:ext cx="1916849" cy="241588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 defTabSz="844083">
              <a:spcBef>
                <a:spcPts val="0"/>
              </a:spcBef>
              <a:defRPr/>
            </a:pPr>
            <a:r>
              <a:rPr lang="ko-KR" altLang="en-US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단위 </a:t>
            </a:r>
            <a:r>
              <a:rPr lang="en-US" altLang="ko-KR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: </a:t>
            </a:r>
            <a:r>
              <a:rPr lang="ko-KR" altLang="en-US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백만원</a:t>
            </a:r>
            <a:endParaRPr lang="en-US" altLang="ko-KR" sz="646" dirty="0">
              <a:ln>
                <a:solidFill>
                  <a:srgbClr val="5B9BD5">
                    <a:alpha val="0"/>
                  </a:srgbClr>
                </a:solidFill>
              </a:ln>
              <a:solidFill>
                <a:prstClr val="white">
                  <a:lumMod val="50000"/>
                </a:prstClr>
              </a:solidFill>
              <a:latin typeface="대명체 굵게" panose="020B0600000101010101" pitchFamily="50" charset="-127"/>
              <a:ea typeface="대명체 굵게" panose="020B0600000101010101" pitchFamily="50" charset="-127"/>
            </a:endParaRPr>
          </a:p>
        </p:txBody>
      </p:sp>
      <p:sp>
        <p:nvSpPr>
          <p:cNvPr id="12" name="제목 1"/>
          <p:cNvSpPr txBox="1">
            <a:spLocks/>
          </p:cNvSpPr>
          <p:nvPr/>
        </p:nvSpPr>
        <p:spPr>
          <a:xfrm>
            <a:off x="395416" y="873313"/>
            <a:ext cx="6357006" cy="336349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  <a:defRPr/>
            </a:pPr>
            <a:r>
              <a:rPr lang="en-US" altLang="ko-KR" sz="1477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1. </a:t>
            </a:r>
            <a:r>
              <a:rPr lang="ko-KR" altLang="en-US" sz="1477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세일즈마케팅 예상 매출 현황</a:t>
            </a:r>
            <a:endParaRPr lang="en-US" altLang="ko-KR" sz="1477" dirty="0">
              <a:ln>
                <a:solidFill>
                  <a:srgbClr val="5B9BD5">
                    <a:alpha val="0"/>
                  </a:srgbClr>
                </a:solidFill>
              </a:ln>
              <a:solidFill>
                <a:prstClr val="black">
                  <a:lumMod val="75000"/>
                  <a:lumOff val="25000"/>
                </a:prstClr>
              </a:solidFill>
              <a:latin typeface="대명체 굵게" panose="020B0600000101010101" pitchFamily="50" charset="-127"/>
              <a:ea typeface="대명체 굵게" panose="020B0600000101010101" pitchFamily="50" charset="-127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08420" y="163968"/>
            <a:ext cx="2772231" cy="2301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Ⅱ. [</a:t>
            </a:r>
            <a:r>
              <a:rPr lang="ko-KR" altLang="en-US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마케팅</a:t>
            </a:r>
            <a:r>
              <a:rPr lang="en-US" altLang="ko-KR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] </a:t>
            </a:r>
            <a:r>
              <a:rPr lang="ko-KR" altLang="en-US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주간 업무 보고</a:t>
            </a:r>
            <a:endParaRPr lang="en-US" altLang="ko-KR" sz="1662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50000"/>
                  <a:lumOff val="50000"/>
                </a:schemeClr>
              </a:solidFill>
              <a:latin typeface="대명체 굵게" panose="020B0600000101010101" pitchFamily="50" charset="-127"/>
              <a:ea typeface="대명체 굵게" panose="020B0600000101010101" pitchFamily="50" charset="-127"/>
              <a:cs typeface="+mj-cs"/>
            </a:endParaRPr>
          </a:p>
        </p:txBody>
      </p:sp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4096077"/>
              </p:ext>
            </p:extLst>
          </p:nvPr>
        </p:nvGraphicFramePr>
        <p:xfrm>
          <a:off x="395416" y="1209076"/>
          <a:ext cx="8466016" cy="5047700"/>
        </p:xfrm>
        <a:graphic>
          <a:graphicData uri="http://schemas.openxmlformats.org/drawingml/2006/table">
            <a:tbl>
              <a:tblPr/>
              <a:tblGrid>
                <a:gridCol w="166154">
                  <a:extLst>
                    <a:ext uri="{9D8B030D-6E8A-4147-A177-3AD203B41FA5}">
                      <a16:colId xmlns:a16="http://schemas.microsoft.com/office/drawing/2014/main" val="2164630410"/>
                    </a:ext>
                  </a:extLst>
                </a:gridCol>
                <a:gridCol w="498462">
                  <a:extLst>
                    <a:ext uri="{9D8B030D-6E8A-4147-A177-3AD203B41FA5}">
                      <a16:colId xmlns:a16="http://schemas.microsoft.com/office/drawing/2014/main" val="1866401207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4150087608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1116715923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104803387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3251457445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050474066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483898829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116512704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2016463868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1219286085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19561178"/>
                    </a:ext>
                  </a:extLst>
                </a:gridCol>
                <a:gridCol w="58631">
                  <a:extLst>
                    <a:ext uri="{9D8B030D-6E8A-4147-A177-3AD203B41FA5}">
                      <a16:colId xmlns:a16="http://schemas.microsoft.com/office/drawing/2014/main" val="1778775893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26595631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1891710517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156872835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3882949281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486432264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272443508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90452401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2094753171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474480797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462248171"/>
                    </a:ext>
                  </a:extLst>
                </a:gridCol>
              </a:tblGrid>
              <a:tr h="260254">
                <a:tc rowSpan="2"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구  </a:t>
                      </a:r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분</a:t>
                      </a:r>
                      <a:endParaRPr lang="en-US" altLang="ko-KR" sz="800" b="1" i="0" u="none" strike="noStrike" dirty="0" smtClean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10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당월 예상실적 (07.01~07.31)</a:t>
                      </a:r>
                      <a:endParaRPr lang="en-US" altLang="ko-KR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10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누계 실적 (01.01~07.31)</a:t>
                      </a:r>
                      <a:endParaRPr lang="en-US" altLang="ko-KR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0256210"/>
                  </a:ext>
                </a:extLst>
              </a:tr>
              <a:tr h="260254">
                <a:tc gridSpan="2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목표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Forecast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달성률</a:t>
                      </a: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전년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증감률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2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목표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Forecast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달성률</a:t>
                      </a: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전년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증감률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5977154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운영 매출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74,488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57,655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dirty="0"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333,770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272,486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5692493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세일즈마케팅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27,120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21,513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37%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ko-KR" altLang="en-US" sz="7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   </a:t>
                      </a:r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126,466 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38%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ko-KR" altLang="en-US" sz="7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   </a:t>
                      </a:r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109,035 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8801439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4,149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2,997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 dirty="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20,679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15,704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712736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자사몰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3,675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2,835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17,708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13,812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5670443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제휴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474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162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2,971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1,892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84314529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en-US" altLang="ko-KR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GS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14,819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16,310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28%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1,491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110%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13,021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3,289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25%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85,267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26%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108,186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22,919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127%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72,422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27%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35,764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49%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2962840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OTA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8,814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9,432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16%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618</a:t>
                      </a:r>
                      <a:endParaRPr lang="en-US" altLang="ko-KR" sz="700" b="0" i="0" u="none" strike="noStrike" kern="1200" dirty="0">
                        <a:solidFill>
                          <a:srgbClr val="FF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107%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7,608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1,824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24%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48,345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62,128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ko-KR" alt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13,783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129%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40,049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22,079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55%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22830610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GOTA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5,499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6,240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741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113%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4,819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1,421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29%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31,240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38,803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ko-KR" alt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7,563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124%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27,521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11,282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41%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4899986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Inbound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505 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637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132</a:t>
                      </a:r>
                      <a:endParaRPr lang="en-US" altLang="ko-KR" sz="700" b="0" i="0" u="none" strike="noStrike" kern="1200" dirty="0">
                        <a:solidFill>
                          <a:srgbClr val="FF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126%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594 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5,682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7,255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1,573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128%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4,852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2,403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50%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70210481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en-US" altLang="ko-KR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MICE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8,128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6,829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31,072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9%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30,183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23662367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G-MICE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7,424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5,801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29,221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9%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27,112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55195734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E-MICE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704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1,014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1,851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2,983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1046851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Other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47681291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레저마케팅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1,321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1,242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4,267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3,748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25120293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자사몰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179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133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863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6542037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외부채널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1,142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1,109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3,404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3,306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946816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023891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421</TotalTime>
  <Words>334</Words>
  <Application>Microsoft Office PowerPoint</Application>
  <PresentationFormat>화면 슬라이드 쇼(4:3)</PresentationFormat>
  <Paragraphs>217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8" baseType="lpstr">
      <vt:lpstr>Arial</vt:lpstr>
      <vt:lpstr>Calibri</vt:lpstr>
      <vt:lpstr>Calibri Light</vt:lpstr>
      <vt:lpstr>대명체 굵게</vt:lpstr>
      <vt:lpstr>대명체 보통</vt:lpstr>
      <vt:lpstr>맑은 고딕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USER</dc:creator>
  <cp:lastModifiedBy>Chanmin</cp:lastModifiedBy>
  <cp:revision>6</cp:revision>
  <dcterms:created xsi:type="dcterms:W3CDTF">2026-05-27T23:40:10Z</dcterms:created>
  <dcterms:modified xsi:type="dcterms:W3CDTF">2026-06-04T05:30:52Z</dcterms:modified>
</cp:coreProperties>
</file>